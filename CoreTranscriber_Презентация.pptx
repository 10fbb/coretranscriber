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25c94bb1b4be7" /><Relationship Type="http://schemas.openxmlformats.org/officeDocument/2006/relationships/extended-properties" Target="/docProps/app.xml" Id="Rab04aa1e14c5419f" /><Relationship Type="http://schemas.openxmlformats.org/officeDocument/2006/relationships/officeDocument" Target="/ppt/presentation.xml" Id="R78dc62591ba543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b0c3309fb40b0"/>
  </p:sldMasterIdLst>
  <p:notesMasterIdLst>
    <p:notesMasterId xmlns:r="http://schemas.openxmlformats.org/officeDocument/2006/relationships" r:id="Reddd2a41b44f45cd"/>
  </p:notesMasterIdLst>
  <p:sldIdLst>
    <p:sldId xmlns:r="http://schemas.openxmlformats.org/officeDocument/2006/relationships" id="256" r:id="R3f50e07e6cb5489a"/>
    <p:sldId xmlns:r="http://schemas.openxmlformats.org/officeDocument/2006/relationships" id="257" r:id="R9cd93c8037e04b41"/>
    <p:sldId xmlns:r="http://schemas.openxmlformats.org/officeDocument/2006/relationships" id="258" r:id="R6d3e3f381cd8419a"/>
    <p:sldId xmlns:r="http://schemas.openxmlformats.org/officeDocument/2006/relationships" id="259" r:id="Rffaeea1ba2ac4da0"/>
    <p:sldId xmlns:r="http://schemas.openxmlformats.org/officeDocument/2006/relationships" id="260" r:id="Ra656d8fe05a94d7b"/>
    <p:sldId xmlns:r="http://schemas.openxmlformats.org/officeDocument/2006/relationships" id="261" r:id="R77f667e445fc4a63"/>
    <p:sldId xmlns:r="http://schemas.openxmlformats.org/officeDocument/2006/relationships" id="262" r:id="R04d001f298154465"/>
    <p:sldId xmlns:r="http://schemas.openxmlformats.org/officeDocument/2006/relationships" id="263" r:id="R50260af15639447d"/>
    <p:sldId xmlns:r="http://schemas.openxmlformats.org/officeDocument/2006/relationships" id="264" r:id="R8aa2629284a24817"/>
    <p:sldId xmlns:r="http://schemas.openxmlformats.org/officeDocument/2006/relationships" id="265" r:id="R3fe922112c904cd2"/>
    <p:sldId xmlns:r="http://schemas.openxmlformats.org/officeDocument/2006/relationships" id="266" r:id="R48eed2084e3e42af"/>
    <p:sldId xmlns:r="http://schemas.openxmlformats.org/officeDocument/2006/relationships" id="267" r:id="R68e89aaab485408a"/>
    <p:sldId xmlns:r="http://schemas.openxmlformats.org/officeDocument/2006/relationships" id="268" r:id="R74fba197ea8f4dbe"/>
    <p:sldId xmlns:r="http://schemas.openxmlformats.org/officeDocument/2006/relationships" id="269" r:id="R24a05968db2c41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ed7e9fe1a474d" /><Relationship Type="http://schemas.openxmlformats.org/officeDocument/2006/relationships/slideMaster" Target="/ppt/slideMasters/slideMaster1.xml" Id="R6f3b0c3309fb40b0" /><Relationship Type="http://schemas.openxmlformats.org/officeDocument/2006/relationships/notesMaster" Target="/ppt/notesMasters/notesMaster1.xml" Id="Reddd2a41b44f45cd" /><Relationship Type="http://schemas.openxmlformats.org/officeDocument/2006/relationships/presProps" Target="/ppt/presProps.xml" Id="Rce6c24f183f4410c" /><Relationship Type="http://schemas.openxmlformats.org/officeDocument/2006/relationships/tableStyles" Target="/ppt/tableStyles.xml" Id="Rd2eab981d45c4aa1" /><Relationship Type="http://schemas.openxmlformats.org/officeDocument/2006/relationships/slide" Target="/ppt/slides/slide1.xml" Id="R3f50e07e6cb5489a" /><Relationship Type="http://schemas.openxmlformats.org/officeDocument/2006/relationships/slide" Target="/ppt/slides/slide2.xml" Id="R9cd93c8037e04b41" /><Relationship Type="http://schemas.openxmlformats.org/officeDocument/2006/relationships/slide" Target="/ppt/slides/slide3.xml" Id="R6d3e3f381cd8419a" /><Relationship Type="http://schemas.openxmlformats.org/officeDocument/2006/relationships/slide" Target="/ppt/slides/slide4.xml" Id="Rffaeea1ba2ac4da0" /><Relationship Type="http://schemas.openxmlformats.org/officeDocument/2006/relationships/slide" Target="/ppt/slides/slide5.xml" Id="Ra656d8fe05a94d7b" /><Relationship Type="http://schemas.openxmlformats.org/officeDocument/2006/relationships/slide" Target="/ppt/slides/slide6.xml" Id="R77f667e445fc4a63" /><Relationship Type="http://schemas.openxmlformats.org/officeDocument/2006/relationships/slide" Target="/ppt/slides/slide7.xml" Id="R04d001f298154465" /><Relationship Type="http://schemas.openxmlformats.org/officeDocument/2006/relationships/slide" Target="/ppt/slides/slide8.xml" Id="R50260af15639447d" /><Relationship Type="http://schemas.openxmlformats.org/officeDocument/2006/relationships/slide" Target="/ppt/slides/slide9.xml" Id="R8aa2629284a24817" /><Relationship Type="http://schemas.openxmlformats.org/officeDocument/2006/relationships/slide" Target="/ppt/slides/slide10.xml" Id="R3fe922112c904cd2" /><Relationship Type="http://schemas.openxmlformats.org/officeDocument/2006/relationships/slide" Target="/ppt/slides/slide11.xml" Id="R48eed2084e3e42af" /><Relationship Type="http://schemas.openxmlformats.org/officeDocument/2006/relationships/slide" Target="/ppt/slides/slide12.xml" Id="R68e89aaab485408a" /><Relationship Type="http://schemas.openxmlformats.org/officeDocument/2006/relationships/slide" Target="/ppt/slides/slide13.xml" Id="R74fba197ea8f4dbe" /><Relationship Type="http://schemas.openxmlformats.org/officeDocument/2006/relationships/slide" Target="/ppt/slides/slide14.xml" Id="R24a05968db2c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b843ff2cac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58a282fb04092" /><Relationship Type="http://schemas.openxmlformats.org/officeDocument/2006/relationships/notesMaster" Target="/ppt/notesMasters/notesMaster1.xml" Id="Rc1a9333b672c42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b084d01ee41f2" /><Relationship Type="http://schemas.openxmlformats.org/officeDocument/2006/relationships/notesMaster" Target="/ppt/notesMasters/notesMaster1.xml" Id="Rb4d4b2ac1c8946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f498b090447c0" /><Relationship Type="http://schemas.openxmlformats.org/officeDocument/2006/relationships/notesMaster" Target="/ppt/notesMasters/notesMaster1.xml" Id="Rfdd86a068a67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79e9a7d0c2428a" /><Relationship Type="http://schemas.openxmlformats.org/officeDocument/2006/relationships/notesMaster" Target="/ppt/notesMasters/notesMaster1.xml" Id="R427edc872a3d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659ac1e24d4962" /><Relationship Type="http://schemas.openxmlformats.org/officeDocument/2006/relationships/notesMaster" Target="/ppt/notesMasters/notesMaster1.xml" Id="R3076d78c381c4f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d8da36ed243d5" /><Relationship Type="http://schemas.openxmlformats.org/officeDocument/2006/relationships/notesMaster" Target="/ppt/notesMasters/notesMaster1.xml" Id="R725863d7f21048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a6a418cbfc442b" /><Relationship Type="http://schemas.openxmlformats.org/officeDocument/2006/relationships/notesMaster" Target="/ppt/notesMasters/notesMaster1.xml" Id="Rf121d28a952147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66c81914ae47fc" /><Relationship Type="http://schemas.openxmlformats.org/officeDocument/2006/relationships/notesMaster" Target="/ppt/notesMasters/notesMaster1.xml" Id="R941625a7a4a64a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c01edef6d14af8" /><Relationship Type="http://schemas.openxmlformats.org/officeDocument/2006/relationships/notesMaster" Target="/ppt/notesMasters/notesMaster1.xml" Id="Rbdde79f9cae24f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7e2ab336484334" /><Relationship Type="http://schemas.openxmlformats.org/officeDocument/2006/relationships/notesMaster" Target="/ppt/notesMasters/notesMaster1.xml" Id="R20f7297e6994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74bd178a924ded" /><Relationship Type="http://schemas.openxmlformats.org/officeDocument/2006/relationships/notesMaster" Target="/ppt/notesMasters/notesMaster1.xml" Id="R0170607485164f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45afd10bc4455b" /><Relationship Type="http://schemas.openxmlformats.org/officeDocument/2006/relationships/notesMaster" Target="/ppt/notesMasters/notesMaster1.xml" Id="R3ea58c7bd1934f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11732c076a443f" /><Relationship Type="http://schemas.openxmlformats.org/officeDocument/2006/relationships/notesMaster" Target="/ppt/notesMasters/notesMaster1.xml" Id="R02038b4c1e0c4b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57c7b769ce4435" /><Relationship Type="http://schemas.openxmlformats.org/officeDocument/2006/relationships/notesMaster" Target="/ppt/notesMasters/notesMaster1.xml" Id="R176676b0cebe49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CoreTranscriber — это настольное приложение для тех случаев, когда запись встречи и её содержание нельзя или не хочется отправлять в облачный сервис. Подчеркните два независимых входа: микрофон пользователя и звук приложений.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hero.png — generated with ImageGen for this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Свяжите проблему с продуктовой ценностью: приложение не просто делает текст из аудио. Оно сохраняет структуру встречи — время, источник, роль и возможность исправления каждой реплики.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src/techtranscriber/pipeline.py</a:t>
            </a:r>
          </a:p>
          <a:p xmlns:a="http://schemas.openxmlformats.org/drawingml/2006/main">
            <a:r>
              <a:t>- src/techtranscriber/models.py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карта возможностей продукта. Не перечисляйте библиотеки: на этом слайде важен пользовательский результат. Термин WASAPI loopback можно пояснить как цифровое копирование звука до его вывода в наушники.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src/techtranscriber/audio.py</a:t>
            </a:r>
          </a:p>
          <a:p xmlns:a="http://schemas.openxmlformats.org/drawingml/2006/main">
            <a:r>
              <a:t>- src/techtranscriber/dictionaries.py</a:t>
            </a:r>
          </a:p>
          <a:p xmlns:a="http://schemas.openxmlformats.org/drawingml/2006/main">
            <a:r>
              <a:t>- src/techtranscriber/storage.py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удобно использовать как сценарий живого показа. Перед встречей модели можно скачать заранее. Во время записи доступны строки стенограммы. После остановки запускается необязательное уточнение сохранённых дорожек.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src/techtranscriber/app.py</a:t>
            </a:r>
          </a:p>
          <a:p xmlns:a="http://schemas.openxmlformats.org/drawingml/2006/main">
            <a:r>
              <a:t>- src/techtranscriber/pipeline.py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ключевое архитектурное решение проекта. Сначала каждый пакет записывается через SessionWriter, затем поступает в SpeechSegmenter и очередь. Предупреждение появляется при 20 ожидающих фрагментах, но очередь специально сделана неограниченной.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src/techtranscriber/pipeline.py</a:t>
            </a:r>
          </a:p>
          <a:p xmlns:a="http://schemas.openxmlformats.org/drawingml/2006/main">
            <a:r>
              <a:t>- src/techtranscriber/audio.py</a:t>
            </a:r>
          </a:p>
          <a:p xmlns:a="http://schemas.openxmlformats.org/drawingml/2006/main">
            <a:r>
              <a:t>- src/techtranscriber/storage.py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Различайте diarization и распознавание: Whisper отвечает за слова, а SpeechBrain — за голосовой отпечаток. Удалённые участники кластеризуются только внутри системной дорожки; пользователь может переименовать кластер или отдельную строку.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src/techtranscriber/pipeline.py</a:t>
            </a:r>
          </a:p>
          <a:p xmlns:a="http://schemas.openxmlformats.org/drawingml/2006/main">
            <a:r>
              <a:t>- src/techtranscriber/diarization.py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Объясните компромисс: одна модель не обязана одновременно быть самой быстрой и самой точной. Живой профиль настроен на CPU и не блокирует захват аудио. Итоговая модель работает по сохранённым файлам пакетами; результат заменяется только после успеха.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src/techtranscriber/transcriber.py</a:t>
            </a:r>
          </a:p>
          <a:p xmlns:a="http://schemas.openxmlformats.org/drawingml/2006/main">
            <a:r>
              <a:t>- src/techtranscriber/pipeline.py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Словари — это управляемая подсказка для Whisper, а не отдельное распознавание. Встроенные файлы устанавливаются в пользовательскую папку. Обновление стандартных словарей сохраняет пользовательские дополнения; дополнительные слова встречи имеют высший приоритет.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src/techtranscriber/dictionaries.py</a:t>
            </a:r>
          </a:p>
          <a:p xmlns:a="http://schemas.openxmlformats.org/drawingml/2006/main">
            <a:r>
              <a:t>- src/techtranscriber/default_dictionaries/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важна проверяемая конфиденциальность архитектуры: нет вызова платного облачного API. Модели загружаются один раз и затем используются локально. Открытые форматы позволяют продолжить работу с результатом в текстовом редакторе, Word или собственной системе.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src/techtranscriber/config.py</a:t>
            </a:r>
          </a:p>
          <a:p xmlns:a="http://schemas.openxmlformats.org/drawingml/2006/main">
            <a:r>
              <a:t>- src/techtranscriber/storage.py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Покажите, что интерфейс закрывает полный цикл: настроить, записать, наблюдать, исправить и открыть папку результата. Выбранная тема применяется сразу и сохраняется между запусками.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src/techtranscriber/app.py</a:t>
            </a:r>
          </a:p>
          <a:p xmlns:a="http://schemas.openxmlformats.org/drawingml/2006/main">
            <a:r>
              <a:t>- src/techtranscriber/transcript_editor.py</a:t>
            </a:r>
          </a:p>
          <a:p xmlns:a="http://schemas.openxmlformats.org/drawingml/2006/main">
            <a:r>
              <a:t>- src/techtranscriber/themes.py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Стек выбран без внешнего серверного компонента. PySide6 отвечает за настольный интерфейс, SoundCard использует возможности Windows, faster-whisper выполняет ASR, SpeechBrain строит голосовые эмбеддинги. PyInstaller формирует клиентскую сборку.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requirements.txt</a:t>
            </a:r>
          </a:p>
          <a:p xmlns:a="http://schemas.openxmlformats.org/drawingml/2006/main">
            <a:r>
              <a:t>- CoreTranscriber.spec</a:t>
            </a:r>
          </a:p>
          <a:p xmlns:a="http://schemas.openxmlformats.org/drawingml/2006/main">
            <a:r>
              <a:t>- src/techtranscriber/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утверждайте, что тесты заменяют реальную проверку аудиоустройств. Их сила — в фиксации критичных инвариантов: очередь не теряет фрагменты, профили моделей корректны, словари обновляются безопасно, роли и экспорт сохраняются.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src/techtranscriber/pipeline.py</a:t>
            </a:r>
          </a:p>
          <a:p xmlns:a="http://schemas.openxmlformats.org/drawingml/2006/main">
            <a:r>
              <a:t>- src/techtranscriber/diarization.py</a:t>
            </a:r>
          </a:p>
          <a:p xmlns:a="http://schemas.openxmlformats.org/drawingml/2006/main">
            <a:r>
              <a:t>- src/techtranscriber/runtime.py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демонстрации используйте короткий заранее известный текст с двумя-тремя терминами из выбранного словаря. Если аудитория или аудиодрайверы подведут, откройте заранее сохранённую сессию и продолжите показ редактирования и экспорта.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src/techtranscriber/app.py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Закройте презентацию тем же тезисом, с которого начали: продукт нужен там, где ценны и содержание, и контроль над данными. После этого переходите к вопросам или к живой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https://github.com/10fbb/CoreTranscriber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e9a8cf3fc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d1afc80c2496e" /><Relationship Type="http://schemas.openxmlformats.org/officeDocument/2006/relationships/slideLayout" Target="/ppt/slideLayouts/slideLayout1.xml" Id="R5f030392051a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30392051a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b7edef0c64898" /><Relationship Type="http://schemas.openxmlformats.org/officeDocument/2006/relationships/image" Target="/ppt/media/image.png" Id="R62b49883357f4464" /><Relationship Type="http://schemas.openxmlformats.org/officeDocument/2006/relationships/notesSlide" Target="/ppt/notesSlides/notesSlide1.xml" Id="Rec79398ae33e49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4e6e8b1524b46" /><Relationship Type="http://schemas.openxmlformats.org/officeDocument/2006/relationships/notesSlide" Target="/ppt/notesSlides/notesSlide2.xml" Id="Rbab63b2c48b3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33717cd58430f" /><Relationship Type="http://schemas.openxmlformats.org/officeDocument/2006/relationships/notesSlide" Target="/ppt/notesSlides/notesSlide3.xml" Id="Rc0bf20e5fc994e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4707a6794f52" /><Relationship Type="http://schemas.openxmlformats.org/officeDocument/2006/relationships/notesSlide" Target="/ppt/notesSlides/notesSlide4.xml" Id="R99327f55539c4a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3bb619c7a41e8" /><Relationship Type="http://schemas.openxmlformats.org/officeDocument/2006/relationships/notesSlide" Target="/ppt/notesSlides/notesSlide5.xml" Id="Re6805f46534147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5553cc9764a8a" /><Relationship Type="http://schemas.openxmlformats.org/officeDocument/2006/relationships/notesSlide" Target="/ppt/notesSlides/notesSlide6.xml" Id="Rab8fde45096a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eeaef2da4ebc" /><Relationship Type="http://schemas.openxmlformats.org/officeDocument/2006/relationships/notesSlide" Target="/ppt/notesSlides/notesSlide7.xml" Id="Re3c1f4b2e28c4f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9e5d0808e4909" /><Relationship Type="http://schemas.openxmlformats.org/officeDocument/2006/relationships/notesSlide" Target="/ppt/notesSlides/notesSlide8.xml" Id="R7ef081022f074e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3c12456114e9a" /><Relationship Type="http://schemas.openxmlformats.org/officeDocument/2006/relationships/notesSlide" Target="/ppt/notesSlides/notesSlide9.xml" Id="Rf4e8a0d094da45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5ff3c9d764902" /><Relationship Type="http://schemas.openxmlformats.org/officeDocument/2006/relationships/notesSlide" Target="/ppt/notesSlides/notesSlide10.xml" Id="Rcdc158371a9b4e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49fee7a9b4bc3" /><Relationship Type="http://schemas.openxmlformats.org/officeDocument/2006/relationships/notesSlide" Target="/ppt/notesSlides/notesSlide11.xml" Id="R8cc89465c95b4c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692d6b3934e00" /><Relationship Type="http://schemas.openxmlformats.org/officeDocument/2006/relationships/notesSlide" Target="/ppt/notesSlides/notesSlide12.xml" Id="Ra7608836149948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41b26bfab4fc2" /><Relationship Type="http://schemas.openxmlformats.org/officeDocument/2006/relationships/notesSlide" Target="/ppt/notesSlides/notesSlide13.xml" Id="R740b0cf500d247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b152217ff47b3" /><Relationship Type="http://schemas.openxmlformats.org/officeDocument/2006/relationships/notesSlide" Target="/ppt/notesSlides/notesSlide14.xml" Id="Rdd56ba2025da42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0CDE200-F31F-4F12-9871-A3C4F48B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ЛОКАЛЬНАЯ ТРАНСКРИБАЦИЯ ВСТРЕЧ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8D0BE5-85F7-40AA-911E-254EF63C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DD84E1-ECA2-437B-A0C9-C2229853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Запись двух аудиопотоков, локальное распознавание речи и стенограмма с ролями участников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617BF54C-6920-48FA-B404-FCDCEAB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A825906C-597E-4926-9157-5A5D4BC5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Windows 10/11  •  Python  •  Whisper  •  без платного API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49883357f44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FE86844-6699-443B-8D61-D0DFDF8E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Презентация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81093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B21E2A8E-8F43-4721-B669-3DC9468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6834C93-8895-4811-BC91-C7A5947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6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Встреча звучит в двух каналах — результат должен быть единым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940B6E02-963A-49F4-8D82-1463102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5D971A93-3CA4-478B-B5FD-B0A0FDD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roblem-big">
            <a:extLst xmlns:a="http://schemas.openxmlformats.org/drawingml/2006/main">
              <a:ext uri="{FF2B5EF4-FFF2-40B4-BE49-F238E27FC236}">
                <a16:creationId xmlns:a16="http://schemas.microsoft.com/office/drawing/2014/main" id="{D8A6B39D-A7EA-48E7-8A2D-4C22E91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Обычная запись не отвечает на главный вопрос: кто и что сказал?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B2F6A6C6-C845-42A2-9217-F33A437B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Микрофон и звук видеоконференции смешиваются, технические термины искажаются, а облачная обработка создаёт вопросы к конфиденциальности.</a:t>
            </a:r>
          </a:p>
        </p:txBody>
      </p:sp>
      <p:sp>
        <p:nvSpPr>
          <p:cNvPr id="7" name="promise-panel">
            <a:extLst xmlns:a="http://schemas.openxmlformats.org/drawingml/2006/main">
              <a:ext uri="{FF2B5EF4-FFF2-40B4-BE49-F238E27FC236}">
                <a16:creationId xmlns:a16="http://schemas.microsoft.com/office/drawing/2014/main" id="{BAF533C1-18D4-4DFE-88E3-EEDA76BD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600700" cy="3810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ise-head">
            <a:extLst xmlns:a="http://schemas.openxmlformats.org/drawingml/2006/main">
              <a:ext uri="{FF2B5EF4-FFF2-40B4-BE49-F238E27FC236}">
                <a16:creationId xmlns:a16="http://schemas.microsoft.com/office/drawing/2014/main" id="{BE7E3430-3C5A-4666-A069-BA99CB14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 решает задачу локально</a:t>
            </a:r>
          </a:p>
        </p:txBody>
      </p:sp>
      <p:sp>
        <p:nvSpPr>
          <p:cNvPr id="9" name="promise-dot-0">
            <a:extLst xmlns:a="http://schemas.openxmlformats.org/drawingml/2006/main">
              <a:ext uri="{FF2B5EF4-FFF2-40B4-BE49-F238E27FC236}">
                <a16:creationId xmlns:a16="http://schemas.microsoft.com/office/drawing/2014/main" id="{2B01CC8E-7A77-4588-B504-EE0FBF2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promise-0">
            <a:extLst xmlns:a="http://schemas.openxmlformats.org/drawingml/2006/main">
              <a:ext uri="{FF2B5EF4-FFF2-40B4-BE49-F238E27FC236}">
                <a16:creationId xmlns:a16="http://schemas.microsoft.com/office/drawing/2014/main" id="{26F00BE5-ED42-4B12-B4E1-9774B49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разделяет ваш голос и звук приложений</a:t>
            </a:r>
          </a:p>
        </p:txBody>
      </p:sp>
      <p:sp>
        <p:nvSpPr>
          <p:cNvPr id="11" name="promise-dot-1">
            <a:extLst xmlns:a="http://schemas.openxmlformats.org/drawingml/2006/main">
              <a:ext uri="{FF2B5EF4-FFF2-40B4-BE49-F238E27FC236}">
                <a16:creationId xmlns:a16="http://schemas.microsoft.com/office/drawing/2014/main" id="{D7D135A6-E7ED-40A2-B382-523E6304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promise-1">
            <a:extLst xmlns:a="http://schemas.openxmlformats.org/drawingml/2006/main">
              <a:ext uri="{FF2B5EF4-FFF2-40B4-BE49-F238E27FC236}">
                <a16:creationId xmlns:a16="http://schemas.microsoft.com/office/drawing/2014/main" id="{8B426423-D8CF-4BCC-B24F-BCE6FB9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7185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показывает реплики во время встречи</a:t>
            </a:r>
          </a:p>
        </p:txBody>
      </p:sp>
      <p:sp>
        <p:nvSpPr>
          <p:cNvPr id="13" name="promise-dot-2">
            <a:extLst xmlns:a="http://schemas.openxmlformats.org/drawingml/2006/main">
              <a:ext uri="{FF2B5EF4-FFF2-40B4-BE49-F238E27FC236}">
                <a16:creationId xmlns:a16="http://schemas.microsoft.com/office/drawing/2014/main" id="{2FA5B5DE-9AB1-4A84-8265-035577B1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promise-2">
            <a:extLst xmlns:a="http://schemas.openxmlformats.org/drawingml/2006/main">
              <a:ext uri="{FF2B5EF4-FFF2-40B4-BE49-F238E27FC236}">
                <a16:creationId xmlns:a16="http://schemas.microsoft.com/office/drawing/2014/main" id="{08DEFB3F-3CB1-4E37-85F7-E950E6D7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различает удалённых собеседников</a:t>
            </a:r>
          </a:p>
        </p:txBody>
      </p:sp>
      <p:sp>
        <p:nvSpPr>
          <p:cNvPr id="15" name="promise-dot-3">
            <a:extLst xmlns:a="http://schemas.openxmlformats.org/drawingml/2006/main">
              <a:ext uri="{FF2B5EF4-FFF2-40B4-BE49-F238E27FC236}">
                <a16:creationId xmlns:a16="http://schemas.microsoft.com/office/drawing/2014/main" id="{48716254-03A0-4729-864D-D7A1209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promise-3">
            <a:extLst xmlns:a="http://schemas.openxmlformats.org/drawingml/2006/main">
              <a:ext uri="{FF2B5EF4-FFF2-40B4-BE49-F238E27FC236}">
                <a16:creationId xmlns:a16="http://schemas.microsoft.com/office/drawing/2014/main" id="{0265CC7A-C54E-40D1-BBCB-574A2EF0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сохраняет редактируемый результат в нескольких форматах</a:t>
            </a:r>
          </a:p>
        </p:txBody>
      </p:sp>
    </p:spTree>
    <p:extLst>
      <p:ext uri="{BB962C8B-B14F-4D97-AF65-F5344CB8AC3E}">
        <p14:creationId xmlns:p14="http://schemas.microsoft.com/office/powerpoint/2010/main" val="1438379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">
            <a:extLst xmlns:a="http://schemas.openxmlformats.org/drawingml/2006/main">
              <a:ext uri="{FF2B5EF4-FFF2-40B4-BE49-F238E27FC236}">
                <a16:creationId xmlns:a16="http://schemas.microsoft.com/office/drawing/2014/main" id="{BD142C58-BDF3-4852-8E99-0771BDA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1047691-DC4A-4CB3-94AF-4054C65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Один рабочий процесс объединяет запись, ИИ и подготовку протокола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1D9EA34B-04B9-4A09-8603-9349DADD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750CA99D-711C-4632-8179-504BEB96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cap-spine">
            <a:extLst xmlns:a="http://schemas.openxmlformats.org/drawingml/2006/main">
              <a:ext uri="{FF2B5EF4-FFF2-40B4-BE49-F238E27FC236}">
                <a16:creationId xmlns:a16="http://schemas.microsoft.com/office/drawing/2014/main" id="{C05B2BFE-88A6-46A0-9737-2C311FF4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cap-dot-0">
            <a:extLst xmlns:a="http://schemas.openxmlformats.org/drawingml/2006/main">
              <a:ext uri="{FF2B5EF4-FFF2-40B4-BE49-F238E27FC236}">
                <a16:creationId xmlns:a16="http://schemas.microsoft.com/office/drawing/2014/main" id="{24544B55-9850-4EA5-812F-B3737AA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819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ap-label-0">
            <a:extLst xmlns:a="http://schemas.openxmlformats.org/drawingml/2006/main">
              <a:ext uri="{FF2B5EF4-FFF2-40B4-BE49-F238E27FC236}">
                <a16:creationId xmlns:a16="http://schemas.microsoft.com/office/drawing/2014/main" id="{6974AC29-9234-4E35-BB63-5E77FD3A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Захват</a:t>
            </a:r>
          </a:p>
        </p:txBody>
      </p:sp>
      <p:sp>
        <p:nvSpPr>
          <p:cNvPr id="8" name="cap-desc-0">
            <a:extLst xmlns:a="http://schemas.openxmlformats.org/drawingml/2006/main">
              <a:ext uri="{FF2B5EF4-FFF2-40B4-BE49-F238E27FC236}">
                <a16:creationId xmlns:a16="http://schemas.microsoft.com/office/drawing/2014/main" id="{E7B3A0CC-8C1E-4B2F-B9CA-82D4358F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9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микрофон + WASAPI loopback для Discord, Zoom и других приложений</a:t>
            </a:r>
          </a:p>
        </p:txBody>
      </p:sp>
      <p:sp>
        <p:nvSpPr>
          <p:cNvPr id="9" name="cap-dot-1">
            <a:extLst xmlns:a="http://schemas.openxmlformats.org/drawingml/2006/main">
              <a:ext uri="{FF2B5EF4-FFF2-40B4-BE49-F238E27FC236}">
                <a16:creationId xmlns:a16="http://schemas.microsoft.com/office/drawing/2014/main" id="{3E890ECB-7E5B-493E-9737-792550B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57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cap-label-1">
            <a:extLst xmlns:a="http://schemas.openxmlformats.org/drawingml/2006/main">
              <a:ext uri="{FF2B5EF4-FFF2-40B4-BE49-F238E27FC236}">
                <a16:creationId xmlns:a16="http://schemas.microsoft.com/office/drawing/2014/main" id="{29A14042-DB77-4336-A8FF-03961D86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527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</p:txBody>
      </p:sp>
      <p:sp>
        <p:nvSpPr>
          <p:cNvPr id="11" name="cap-desc-1">
            <a:extLst xmlns:a="http://schemas.openxmlformats.org/drawingml/2006/main">
              <a:ext uri="{FF2B5EF4-FFF2-40B4-BE49-F238E27FC236}">
                <a16:creationId xmlns:a16="http://schemas.microsoft.com/office/drawing/2014/main" id="{8F869AE3-041C-4899-8A62-53C3A546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faster-whisper работает на компьютере без облачного API</a:t>
            </a:r>
          </a:p>
        </p:txBody>
      </p:sp>
      <p:sp>
        <p:nvSpPr>
          <p:cNvPr id="12" name="cap-dot-2">
            <a:extLst xmlns:a="http://schemas.openxmlformats.org/drawingml/2006/main">
              <a:ext uri="{FF2B5EF4-FFF2-40B4-BE49-F238E27FC236}">
                <a16:creationId xmlns:a16="http://schemas.microsoft.com/office/drawing/2014/main" id="{A44FAC1A-6CFC-4002-B5D4-2DD09F80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cap-label-2">
            <a:extLst xmlns:a="http://schemas.openxmlformats.org/drawingml/2006/main">
              <a:ext uri="{FF2B5EF4-FFF2-40B4-BE49-F238E27FC236}">
                <a16:creationId xmlns:a16="http://schemas.microsoft.com/office/drawing/2014/main" id="{0A07D2F4-1E3E-49C8-A92A-3F640A59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3909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14" name="cap-desc-2">
            <a:extLst xmlns:a="http://schemas.openxmlformats.org/drawingml/2006/main">
              <a:ext uri="{FF2B5EF4-FFF2-40B4-BE49-F238E27FC236}">
                <a16:creationId xmlns:a16="http://schemas.microsoft.com/office/drawing/2014/main" id="{A9B35FE6-EAB5-40D0-B14A-F439A8F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718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«Вы» для микрофона и голосовые кластеры для удалённых участников</a:t>
            </a:r>
          </a:p>
        </p:txBody>
      </p:sp>
      <p:sp>
        <p:nvSpPr>
          <p:cNvPr id="15" name="cap-dot-3">
            <a:extLst xmlns:a="http://schemas.openxmlformats.org/drawingml/2006/main">
              <a:ext uri="{FF2B5EF4-FFF2-40B4-BE49-F238E27FC236}">
                <a16:creationId xmlns:a16="http://schemas.microsoft.com/office/drawing/2014/main" id="{D9E919CF-0423-490E-9C64-5086FEB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33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cap-label-3">
            <a:extLst xmlns:a="http://schemas.openxmlformats.org/drawingml/2006/main">
              <a:ext uri="{FF2B5EF4-FFF2-40B4-BE49-F238E27FC236}">
                <a16:creationId xmlns:a16="http://schemas.microsoft.com/office/drawing/2014/main" id="{3BAEA672-A7C1-48F1-9A23-75FB9F7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291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17" name="cap-desc-3">
            <a:extLst xmlns:a="http://schemas.openxmlformats.org/drawingml/2006/main">
              <a:ext uri="{FF2B5EF4-FFF2-40B4-BE49-F238E27FC236}">
                <a16:creationId xmlns:a16="http://schemas.microsoft.com/office/drawing/2014/main" id="{4B4085FC-2CEF-401B-B637-D932FC9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16 тематических словарей и дополнительные термины конкретной встречи</a:t>
            </a:r>
          </a:p>
        </p:txBody>
      </p:sp>
      <p:sp>
        <p:nvSpPr>
          <p:cNvPr id="18" name="cap-dot-4">
            <a:extLst xmlns:a="http://schemas.openxmlformats.org/drawingml/2006/main">
              <a:ext uri="{FF2B5EF4-FFF2-40B4-BE49-F238E27FC236}">
                <a16:creationId xmlns:a16="http://schemas.microsoft.com/office/drawing/2014/main" id="{98CFDF8E-8EDA-4C89-8634-5DF6555C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7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cap-label-4">
            <a:extLst xmlns:a="http://schemas.openxmlformats.org/drawingml/2006/main">
              <a:ext uri="{FF2B5EF4-FFF2-40B4-BE49-F238E27FC236}">
                <a16:creationId xmlns:a16="http://schemas.microsoft.com/office/drawing/2014/main" id="{9FAA6ACE-11FB-4FF3-A066-77918657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673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cap-desc-4">
            <a:extLst xmlns:a="http://schemas.openxmlformats.org/drawingml/2006/main">
              <a:ext uri="{FF2B5EF4-FFF2-40B4-BE49-F238E27FC236}">
                <a16:creationId xmlns:a16="http://schemas.microsoft.com/office/drawing/2014/main" id="{77EAC8A7-0336-45FA-861C-05AA741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48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редактирование реплик и экспорт в TXT, Markdown, JSON, SRT и DOCX</a:t>
            </a:r>
          </a:p>
        </p:txBody>
      </p:sp>
    </p:spTree>
    <p:extLst>
      <p:ext uri="{BB962C8B-B14F-4D97-AF65-F5344CB8AC3E}">
        <p14:creationId xmlns:p14="http://schemas.microsoft.com/office/powerpoint/2010/main" val="1746678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4">
            <a:extLst xmlns:a="http://schemas.openxmlformats.org/drawingml/2006/main">
              <a:ext uri="{FF2B5EF4-FFF2-40B4-BE49-F238E27FC236}">
                <a16:creationId xmlns:a16="http://schemas.microsoft.com/office/drawing/2014/main" id="{BF5DF0DE-ADF2-47C4-8C01-8BB8ED9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76E7FDC-7341-483B-9744-491725C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Пользователь проходит путь от настройки до готовой стенограммы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A75EB3F2-64EC-436B-9879-2B0C2B43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2950F9E1-FEE3-4E58-9A20-9C357E35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1" name="flow-a1"/>
          <p:cNvCxnSpPr/>
          <p:nvPr/>
        </p:nvCxnSpPr>
        <p:spPr>
          <a:xfrm xmlns:a="http://schemas.openxmlformats.org/drawingml/2006/main">
            <a:off x="2171700" y="24955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2" name="flow-a2"/>
          <p:cNvCxnSpPr/>
          <p:nvPr/>
        </p:nvCxnSpPr>
        <p:spPr>
          <a:xfrm xmlns:a="http://schemas.openxmlformats.org/drawingml/2006/main">
            <a:off x="4095750" y="24955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3" name="flow-a3"/>
          <p:cNvCxnSpPr/>
          <p:nvPr/>
        </p:nvCxnSpPr>
        <p:spPr>
          <a:xfrm xmlns:a="http://schemas.openxmlformats.org/drawingml/2006/main">
            <a:off x="6019800" y="24955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4" name="flow-a4"/>
          <p:cNvCxnSpPr/>
          <p:nvPr/>
        </p:nvCxnSpPr>
        <p:spPr>
          <a:xfrm xmlns:a="http://schemas.openxmlformats.org/drawingml/2006/main">
            <a:off x="7943850" y="24955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5" name="flow-a5"/>
          <p:cNvCxnSpPr/>
          <p:nvPr/>
        </p:nvCxnSpPr>
        <p:spPr>
          <a:xfrm xmlns:a="http://schemas.openxmlformats.org/drawingml/2006/main">
            <a:off x="9867900" y="24955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9345410D-8A11-4099-BCC1-91D9833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7145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age-n-1">
            <a:extLst xmlns:a="http://schemas.openxmlformats.org/drawingml/2006/main">
              <a:ext uri="{FF2B5EF4-FFF2-40B4-BE49-F238E27FC236}">
                <a16:creationId xmlns:a16="http://schemas.microsoft.com/office/drawing/2014/main" id="{FEA39311-0602-4F89-8890-71FAECF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85C0916C-9101-4B30-9F59-308DD43E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Выбрать аудио</a:t>
            </a:r>
          </a:p>
        </p:txBody>
      </p:sp>
      <p:sp>
        <p:nvSpPr>
          <p:cNvPr id="13" name="stage-desc-1">
            <a:extLst xmlns:a="http://schemas.openxmlformats.org/drawingml/2006/main">
              <a:ext uri="{FF2B5EF4-FFF2-40B4-BE49-F238E27FC236}">
                <a16:creationId xmlns:a16="http://schemas.microsoft.com/office/drawing/2014/main" id="{5368D525-FD3C-4ECD-A770-85F13CCA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микрофон + вывод</a:t>
            </a:r>
          </a:p>
        </p:txBody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C79F6B8A-F5DE-4A43-8830-F11EA3D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17145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age-n-2">
            <a:extLst xmlns:a="http://schemas.openxmlformats.org/drawingml/2006/main">
              <a:ext uri="{FF2B5EF4-FFF2-40B4-BE49-F238E27FC236}">
                <a16:creationId xmlns:a16="http://schemas.microsoft.com/office/drawing/2014/main" id="{4A519211-5C50-408B-83D0-CC08A15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F5300BA7-4C9A-40C2-8131-500698FB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193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Добавить контекст</a:t>
            </a:r>
          </a:p>
        </p:txBody>
      </p:sp>
      <p:sp>
        <p:nvSpPr>
          <p:cNvPr id="17" name="stage-desc-2">
            <a:extLst xmlns:a="http://schemas.openxmlformats.org/drawingml/2006/main">
              <a:ext uri="{FF2B5EF4-FFF2-40B4-BE49-F238E27FC236}">
                <a16:creationId xmlns:a16="http://schemas.microsoft.com/office/drawing/2014/main" id="{F477DCFF-8592-401A-A54E-9712EBCC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словари, проекты, имена</a:t>
            </a:r>
          </a:p>
        </p:txBody>
      </p:sp>
      <p:sp>
        <p:nvSpPr>
          <p:cNvPr id="18" name="stage-3">
            <a:extLst xmlns:a="http://schemas.openxmlformats.org/drawingml/2006/main">
              <a:ext uri="{FF2B5EF4-FFF2-40B4-BE49-F238E27FC236}">
                <a16:creationId xmlns:a16="http://schemas.microsoft.com/office/drawing/2014/main" id="{C71F6DC4-EFFF-4DBC-8F0D-E9E1524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17145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tage-n-3">
            <a:extLst xmlns:a="http://schemas.openxmlformats.org/drawingml/2006/main">
              <a:ext uri="{FF2B5EF4-FFF2-40B4-BE49-F238E27FC236}">
                <a16:creationId xmlns:a16="http://schemas.microsoft.com/office/drawing/2014/main" id="{3D680399-8323-464F-9F1D-583D03B7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335816A3-8936-4EAD-8DF5-7F31BEA2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193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Подготовить ИИ</a:t>
            </a:r>
          </a:p>
        </p:txBody>
      </p:sp>
      <p:sp>
        <p:nvSpPr>
          <p:cNvPr id="21" name="stage-desc-3">
            <a:extLst xmlns:a="http://schemas.openxmlformats.org/drawingml/2006/main">
              <a:ext uri="{FF2B5EF4-FFF2-40B4-BE49-F238E27FC236}">
                <a16:creationId xmlns:a16="http://schemas.microsoft.com/office/drawing/2014/main" id="{5B90F287-297B-4FE6-9950-351762C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живая и итоговая модели</a:t>
            </a:r>
          </a:p>
        </p:txBody>
      </p:sp>
      <p:sp>
        <p:nvSpPr>
          <p:cNvPr id="22" name="stage-4">
            <a:extLst xmlns:a="http://schemas.openxmlformats.org/drawingml/2006/main">
              <a:ext uri="{FF2B5EF4-FFF2-40B4-BE49-F238E27FC236}">
                <a16:creationId xmlns:a16="http://schemas.microsoft.com/office/drawing/2014/main" id="{AD5F7A06-0EF6-4D82-A089-2D4087D5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17145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tage-n-4">
            <a:extLst xmlns:a="http://schemas.openxmlformats.org/drawingml/2006/main">
              <a:ext uri="{FF2B5EF4-FFF2-40B4-BE49-F238E27FC236}">
                <a16:creationId xmlns:a16="http://schemas.microsoft.com/office/drawing/2014/main" id="{365CD565-557A-4DB0-BDBD-7D4D1255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5D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F5D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AEA95900-7D81-4EBE-96D1-DA69D67A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193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Записать</a:t>
            </a:r>
          </a:p>
        </p:txBody>
      </p:sp>
      <p:sp>
        <p:nvSpPr>
          <p:cNvPr id="25" name="stage-desc-4">
            <a:extLst xmlns:a="http://schemas.openxmlformats.org/drawingml/2006/main">
              <a:ext uri="{FF2B5EF4-FFF2-40B4-BE49-F238E27FC236}">
                <a16:creationId xmlns:a16="http://schemas.microsoft.com/office/drawing/2014/main" id="{EFAA6BDE-944E-420E-80A0-0F21CCA3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реплики в реальном времени</a:t>
            </a:r>
          </a:p>
        </p:txBody>
      </p:sp>
      <p:sp>
        <p:nvSpPr>
          <p:cNvPr id="26" name="stage-5">
            <a:extLst xmlns:a="http://schemas.openxmlformats.org/drawingml/2006/main">
              <a:ext uri="{FF2B5EF4-FFF2-40B4-BE49-F238E27FC236}">
                <a16:creationId xmlns:a16="http://schemas.microsoft.com/office/drawing/2014/main" id="{21EADDEB-9799-4B62-BE07-0DF705D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7145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tage-n-5">
            <a:extLst xmlns:a="http://schemas.openxmlformats.org/drawingml/2006/main">
              <a:ext uri="{FF2B5EF4-FFF2-40B4-BE49-F238E27FC236}">
                <a16:creationId xmlns:a16="http://schemas.microsoft.com/office/drawing/2014/main" id="{B2F5D8C3-A228-4802-AB08-E775F017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5926607F-3163-4DB0-A72F-EC8003F4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193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29" name="stage-desc-5">
            <a:extLst xmlns:a="http://schemas.openxmlformats.org/drawingml/2006/main">
              <a:ext uri="{FF2B5EF4-FFF2-40B4-BE49-F238E27FC236}">
                <a16:creationId xmlns:a16="http://schemas.microsoft.com/office/drawing/2014/main" id="{89A29AFE-403D-4904-AB29-E4DB27D7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роли и текст строк</a:t>
            </a:r>
          </a:p>
        </p:txBody>
      </p:sp>
      <p:sp>
        <p:nvSpPr>
          <p:cNvPr id="30" name="stage-6">
            <a:extLst xmlns:a="http://schemas.openxmlformats.org/drawingml/2006/main">
              <a:ext uri="{FF2B5EF4-FFF2-40B4-BE49-F238E27FC236}">
                <a16:creationId xmlns:a16="http://schemas.microsoft.com/office/drawing/2014/main" id="{0B9041C0-41EA-48E9-98E5-31B75DA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09750"/>
            <a:ext cx="17145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tage-n-6">
            <a:extLst xmlns:a="http://schemas.openxmlformats.org/drawingml/2006/main">
              <a:ext uri="{FF2B5EF4-FFF2-40B4-BE49-F238E27FC236}">
                <a16:creationId xmlns:a16="http://schemas.microsoft.com/office/drawing/2014/main" id="{9BE55E0B-2259-4533-8D89-96C5C0C9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43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stage-label-6">
            <a:extLst xmlns:a="http://schemas.openxmlformats.org/drawingml/2006/main">
              <a:ext uri="{FF2B5EF4-FFF2-40B4-BE49-F238E27FC236}">
                <a16:creationId xmlns:a16="http://schemas.microsoft.com/office/drawing/2014/main" id="{BCE4169F-D2DC-4C0A-874A-7E448085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193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Экспорт</a:t>
            </a:r>
          </a:p>
        </p:txBody>
      </p:sp>
      <p:sp>
        <p:nvSpPr>
          <p:cNvPr id="33" name="stage-desc-6">
            <a:extLst xmlns:a="http://schemas.openxmlformats.org/drawingml/2006/main">
              <a:ext uri="{FF2B5EF4-FFF2-40B4-BE49-F238E27FC236}">
                <a16:creationId xmlns:a16="http://schemas.microsoft.com/office/drawing/2014/main" id="{3792BC82-E231-456E-A7A7-DCD941C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622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открыть папку встречи</a:t>
            </a:r>
          </a:p>
        </p:txBody>
      </p:sp>
      <p:sp>
        <p:nvSpPr>
          <p:cNvPr id="34" name="journey-note">
            <a:extLst xmlns:a="http://schemas.openxmlformats.org/drawingml/2006/main">
              <a:ext uri="{FF2B5EF4-FFF2-40B4-BE49-F238E27FC236}">
                <a16:creationId xmlns:a16="http://schemas.microsoft.com/office/drawing/2014/main" id="{45D44DC4-51F7-4A8C-9981-806E60D3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journey-note-head">
            <a:extLst xmlns:a="http://schemas.openxmlformats.org/drawingml/2006/main">
              <a:ext uri="{FF2B5EF4-FFF2-40B4-BE49-F238E27FC236}">
                <a16:creationId xmlns:a16="http://schemas.microsoft.com/office/drawing/2014/main" id="{61358A50-1B9A-460F-A9DC-80176512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После остановки приложение не торопится терять результат</a:t>
            </a:r>
          </a:p>
        </p:txBody>
      </p:sp>
      <p:sp>
        <p:nvSpPr>
          <p:cNvPr id="36" name="journey-note-body">
            <a:extLst xmlns:a="http://schemas.openxmlformats.org/drawingml/2006/main">
              <a:ext uri="{FF2B5EF4-FFF2-40B4-BE49-F238E27FC236}">
                <a16:creationId xmlns:a16="http://schemas.microsoft.com/office/drawing/2014/main" id="{06A4CCCE-8AA2-4FCF-8A64-FDE879E5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Живая стенограмма остаётся резервом до успешного пакетного уточнения. Уточнение можно пропустить или отменить.</a:t>
            </a:r>
          </a:p>
        </p:txBody>
      </p:sp>
    </p:spTree>
    <p:extLst>
      <p:ext uri="{BB962C8B-B14F-4D97-AF65-F5344CB8AC3E}">
        <p14:creationId xmlns:p14="http://schemas.microsoft.com/office/powerpoint/2010/main" val="1082923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A0CA2647-831E-4D85-9733-DC4B3E71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7C4AFD5-A80D-4872-BA94-8FF3829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Аудио сохраняется раньше распознавания — поэтому перегрузка не уничтожает данные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86B772C3-EE3A-4717-AB5B-01862C4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5A68344D-4EC2-4F23-A8B0-B4086E21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5" name="arch-c1"/>
          <p:cNvCxnSpPr/>
          <p:nvPr/>
        </p:nvCxnSpPr>
        <p:spPr>
          <a:xfrm xmlns:a="http://schemas.openxmlformats.org/drawingml/2006/main">
            <a:off x="1790700" y="23431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6" name="arch-c2"/>
          <p:cNvCxnSpPr/>
          <p:nvPr/>
        </p:nvCxnSpPr>
        <p:spPr>
          <a:xfrm xmlns:a="http://schemas.openxmlformats.org/drawingml/2006/main">
            <a:off x="3600450" y="23431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7" name="arch-c3"/>
          <p:cNvCxnSpPr/>
          <p:nvPr/>
        </p:nvCxnSpPr>
        <p:spPr>
          <a:xfrm xmlns:a="http://schemas.openxmlformats.org/drawingml/2006/main">
            <a:off x="5410200" y="23431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8" name="arch-c4"/>
          <p:cNvCxnSpPr/>
          <p:nvPr/>
        </p:nvCxnSpPr>
        <p:spPr>
          <a:xfrm xmlns:a="http://schemas.openxmlformats.org/drawingml/2006/main">
            <a:off x="7219950" y="23431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arch-c5"/>
          <p:cNvCxnSpPr/>
          <p:nvPr/>
        </p:nvCxnSpPr>
        <p:spPr>
          <a:xfrm xmlns:a="http://schemas.openxmlformats.org/drawingml/2006/main">
            <a:off x="9029700" y="23431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arch-node-0">
            <a:extLst xmlns:a="http://schemas.openxmlformats.org/drawingml/2006/main">
              <a:ext uri="{FF2B5EF4-FFF2-40B4-BE49-F238E27FC236}">
                <a16:creationId xmlns:a16="http://schemas.microsoft.com/office/drawing/2014/main" id="{E63D0E9C-C9A2-4B5E-B017-E8FA616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390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-h-0">
            <a:extLst xmlns:a="http://schemas.openxmlformats.org/drawingml/2006/main">
              <a:ext uri="{FF2B5EF4-FFF2-40B4-BE49-F238E27FC236}">
                <a16:creationId xmlns:a16="http://schemas.microsoft.com/office/drawing/2014/main" id="{ECCE7784-D729-47D4-9874-A50CFA5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источника</a:t>
            </a:r>
          </a:p>
        </p:txBody>
      </p:sp>
      <p:sp>
        <p:nvSpPr>
          <p:cNvPr id="12" name="arch-b-0">
            <a:extLst xmlns:a="http://schemas.openxmlformats.org/drawingml/2006/main">
              <a:ext uri="{FF2B5EF4-FFF2-40B4-BE49-F238E27FC236}">
                <a16:creationId xmlns:a16="http://schemas.microsoft.com/office/drawing/2014/main" id="{000AD38E-DECE-44BF-87E2-A4BD6BB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микрофон</a:t>
            </a:r>
          </a:p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системный звук</a:t>
            </a:r>
          </a:p>
        </p:txBody>
      </p:sp>
      <p:sp>
        <p:nvSpPr>
          <p:cNvPr id="13" name="arch-node-1">
            <a:extLst xmlns:a="http://schemas.openxmlformats.org/drawingml/2006/main">
              <a:ext uri="{FF2B5EF4-FFF2-40B4-BE49-F238E27FC236}">
                <a16:creationId xmlns:a16="http://schemas.microsoft.com/office/drawing/2014/main" id="{3E05897D-742C-4C3E-BA3B-6EFF204A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62125"/>
            <a:ext cx="1390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rch-h-1">
            <a:extLst xmlns:a="http://schemas.openxmlformats.org/drawingml/2006/main">
              <a:ext uri="{FF2B5EF4-FFF2-40B4-BE49-F238E27FC236}">
                <a16:creationId xmlns:a16="http://schemas.microsoft.com/office/drawing/2014/main" id="{FC3AAED8-C45E-444B-A3AC-CCFBDEB0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71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CaptureWorker</a:t>
            </a:r>
          </a:p>
        </p:txBody>
      </p:sp>
      <p:sp>
        <p:nvSpPr>
          <p:cNvPr id="15" name="arch-b-1">
            <a:extLst xmlns:a="http://schemas.openxmlformats.org/drawingml/2006/main">
              <a:ext uri="{FF2B5EF4-FFF2-40B4-BE49-F238E27FC236}">
                <a16:creationId xmlns:a16="http://schemas.microsoft.com/office/drawing/2014/main" id="{91AC6BF2-C83E-4896-993C-4B42D86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48 кГц</a:t>
            </a:r>
          </a:p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непрерывный поток</a:t>
            </a:r>
          </a:p>
        </p:txBody>
      </p:sp>
      <p:sp>
        <p:nvSpPr>
          <p:cNvPr id="16" name="arch-node-2">
            <a:extLst xmlns:a="http://schemas.openxmlformats.org/drawingml/2006/main">
              <a:ext uri="{FF2B5EF4-FFF2-40B4-BE49-F238E27FC236}">
                <a16:creationId xmlns:a16="http://schemas.microsoft.com/office/drawing/2014/main" id="{8185F567-B486-4136-8FA0-7C97F96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62125"/>
            <a:ext cx="1390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-h-2">
            <a:extLst xmlns:a="http://schemas.openxmlformats.org/drawingml/2006/main">
              <a:ext uri="{FF2B5EF4-FFF2-40B4-BE49-F238E27FC236}">
                <a16:creationId xmlns:a16="http://schemas.microsoft.com/office/drawing/2014/main" id="{F2F5B53D-D49B-4190-B756-1259B83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71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Запись WAV</a:t>
            </a:r>
          </a:p>
        </p:txBody>
      </p:sp>
      <p:sp>
        <p:nvSpPr>
          <p:cNvPr id="18" name="arch-b-2">
            <a:extLst xmlns:a="http://schemas.openxmlformats.org/drawingml/2006/main">
              <a:ext uri="{FF2B5EF4-FFF2-40B4-BE49-F238E27FC236}">
                <a16:creationId xmlns:a16="http://schemas.microsoft.com/office/drawing/2014/main" id="{CB429DDE-4FE2-4C91-AC09-E9BAF7B6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сначала на диск</a:t>
            </a:r>
          </a:p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две дорожки</a:t>
            </a:r>
          </a:p>
        </p:txBody>
      </p:sp>
      <p:sp>
        <p:nvSpPr>
          <p:cNvPr id="19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3C1A56F-3736-4FAD-A0D7-3354B6AA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62125"/>
            <a:ext cx="1390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rch-h-3">
            <a:extLst xmlns:a="http://schemas.openxmlformats.org/drawingml/2006/main">
              <a:ext uri="{FF2B5EF4-FFF2-40B4-BE49-F238E27FC236}">
                <a16:creationId xmlns:a16="http://schemas.microsoft.com/office/drawing/2014/main" id="{FF546A82-A80F-42B9-B6D9-6601518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71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Сегментация</a:t>
            </a:r>
          </a:p>
        </p:txBody>
      </p:sp>
      <p:sp>
        <p:nvSpPr>
          <p:cNvPr id="21" name="arch-b-3">
            <a:extLst xmlns:a="http://schemas.openxmlformats.org/drawingml/2006/main">
              <a:ext uri="{FF2B5EF4-FFF2-40B4-BE49-F238E27FC236}">
                <a16:creationId xmlns:a16="http://schemas.microsoft.com/office/drawing/2014/main" id="{C7F833B0-89FE-436B-AA14-31FACD3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энергия + паузы</a:t>
            </a:r>
          </a:p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фрагменты речи</a:t>
            </a:r>
          </a:p>
        </p:txBody>
      </p:sp>
      <p:sp>
        <p:nvSpPr>
          <p:cNvPr id="22" name="arch-node-4">
            <a:extLst xmlns:a="http://schemas.openxmlformats.org/drawingml/2006/main">
              <a:ext uri="{FF2B5EF4-FFF2-40B4-BE49-F238E27FC236}">
                <a16:creationId xmlns:a16="http://schemas.microsoft.com/office/drawing/2014/main" id="{66C3C86A-846B-42E0-9048-EDC58F3B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62125"/>
            <a:ext cx="1390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arch-h-4">
            <a:extLst xmlns:a="http://schemas.openxmlformats.org/drawingml/2006/main">
              <a:ext uri="{FF2B5EF4-FFF2-40B4-BE49-F238E27FC236}">
                <a16:creationId xmlns:a16="http://schemas.microsoft.com/office/drawing/2014/main" id="{3F7370D0-38F4-4DD6-8D66-4A0636EE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71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Очередь</a:t>
            </a:r>
          </a:p>
        </p:txBody>
      </p:sp>
      <p:sp>
        <p:nvSpPr>
          <p:cNvPr id="24" name="arch-b-4">
            <a:extLst xmlns:a="http://schemas.openxmlformats.org/drawingml/2006/main">
              <a:ext uri="{FF2B5EF4-FFF2-40B4-BE49-F238E27FC236}">
                <a16:creationId xmlns:a16="http://schemas.microsoft.com/office/drawing/2014/main" id="{E3B514A2-81AF-476B-A2B2-9485AEF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без жёсткого лимита</a:t>
            </a:r>
          </a:p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не удаляет реплики</a:t>
            </a:r>
          </a:p>
        </p:txBody>
      </p:sp>
      <p:sp>
        <p:nvSpPr>
          <p:cNvPr id="25" name="arch-node-5">
            <a:extLst xmlns:a="http://schemas.openxmlformats.org/drawingml/2006/main">
              <a:ext uri="{FF2B5EF4-FFF2-40B4-BE49-F238E27FC236}">
                <a16:creationId xmlns:a16="http://schemas.microsoft.com/office/drawing/2014/main" id="{8EB8AF0A-D7E9-4150-A03A-C5DE0520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62125"/>
            <a:ext cx="1390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arch-h-5">
            <a:extLst xmlns:a="http://schemas.openxmlformats.org/drawingml/2006/main">
              <a:ext uri="{FF2B5EF4-FFF2-40B4-BE49-F238E27FC236}">
                <a16:creationId xmlns:a16="http://schemas.microsoft.com/office/drawing/2014/main" id="{3E05B4CD-D097-4395-947A-765FB126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Локальный ИИ</a:t>
            </a:r>
          </a:p>
        </p:txBody>
      </p:sp>
      <p:sp>
        <p:nvSpPr>
          <p:cNvPr id="27" name="arch-b-5">
            <a:extLst xmlns:a="http://schemas.openxmlformats.org/drawingml/2006/main">
              <a:ext uri="{FF2B5EF4-FFF2-40B4-BE49-F238E27FC236}">
                <a16:creationId xmlns:a16="http://schemas.microsoft.com/office/drawing/2014/main" id="{93D8054E-0D82-454E-9938-14C4E8A6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Whisper + роли</a:t>
            </a:r>
          </a:p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строки стенограммы</a:t>
            </a:r>
          </a:p>
        </p:txBody>
      </p:sp>
      <p:sp>
        <p:nvSpPr>
          <p:cNvPr id="28" name="arch-detail">
            <a:extLst xmlns:a="http://schemas.openxmlformats.org/drawingml/2006/main">
              <a:ext uri="{FF2B5EF4-FFF2-40B4-BE49-F238E27FC236}">
                <a16:creationId xmlns:a16="http://schemas.microsoft.com/office/drawing/2014/main" id="{1AF60B50-82BF-482C-B3BD-BF3DAD97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1391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rch-detail-title">
            <a:extLst xmlns:a="http://schemas.openxmlformats.org/drawingml/2006/main">
              <a:ext uri="{FF2B5EF4-FFF2-40B4-BE49-F238E27FC236}">
                <a16:creationId xmlns:a16="http://schemas.microsoft.com/office/drawing/2014/main" id="{BDB36A1D-8891-4154-833F-CE714D06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14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происходит при высокой нагрузке</a:t>
            </a:r>
          </a:p>
        </p:txBody>
      </p:sp>
      <p:sp>
        <p:nvSpPr>
          <p:cNvPr id="30" name="arch-detail-copy">
            <a:extLst xmlns:a="http://schemas.openxmlformats.org/drawingml/2006/main">
              <a:ext uri="{FF2B5EF4-FFF2-40B4-BE49-F238E27FC236}">
                <a16:creationId xmlns:a16="http://schemas.microsoft.com/office/drawing/2014/main" id="{501D0AC8-2FE2-4B73-86A6-1F649C2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76675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5EC"/>
                </a:solidFill>
                <a:latin typeface="Arial"/>
                <a:ea typeface="Arial"/>
                <a:cs typeface="Arial"/>
              </a:rPr>
              <a:t>Статус показывает отставание и размер очереди. Аудио и выделенные фрагменты остаются сохранёнными; обработка продолжится, когда процессор освободится.</a:t>
            </a:r>
          </a:p>
        </p:txBody>
      </p:sp>
    </p:spTree>
    <p:extLst>
      <p:ext uri="{BB962C8B-B14F-4D97-AF65-F5344CB8AC3E}">
        <p14:creationId xmlns:p14="http://schemas.microsoft.com/office/powerpoint/2010/main" val="204703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">
            <a:extLst xmlns:a="http://schemas.openxmlformats.org/drawingml/2006/main">
              <a:ext uri="{FF2B5EF4-FFF2-40B4-BE49-F238E27FC236}">
                <a16:creationId xmlns:a16="http://schemas.microsoft.com/office/drawing/2014/main" id="{F0956157-EF87-4CEF-9C21-4DFC85F4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EEB2F01-19A9-4A0F-AFE1-CFE0084B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Источник звука задаёт роль, а голосовой отпечаток разделяет собеседников</a:t>
            </a:r>
          </a:p>
        </p:txBody>
      </p:sp>
      <p:sp>
        <p:nvSpPr>
          <p:cNvPr id="3" name="top-rule-6">
            <a:extLst xmlns:a="http://schemas.openxmlformats.org/drawingml/2006/main">
              <a:ext uri="{FF2B5EF4-FFF2-40B4-BE49-F238E27FC236}">
                <a16:creationId xmlns:a16="http://schemas.microsoft.com/office/drawing/2014/main" id="{C3FAC0D0-9821-4F31-9383-5AA4A0CE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FBF3DB4D-58F8-464D-B69E-C40E274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mic-lane">
            <a:extLst xmlns:a="http://schemas.openxmlformats.org/drawingml/2006/main">
              <a:ext uri="{FF2B5EF4-FFF2-40B4-BE49-F238E27FC236}">
                <a16:creationId xmlns:a16="http://schemas.microsoft.com/office/drawing/2014/main" id="{0337CBDE-C3E0-498F-A713-85A3B059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149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c-tag">
            <a:extLst xmlns:a="http://schemas.openxmlformats.org/drawingml/2006/main">
              <a:ext uri="{FF2B5EF4-FFF2-40B4-BE49-F238E27FC236}">
                <a16:creationId xmlns:a16="http://schemas.microsoft.com/office/drawing/2014/main" id="{591E6385-FEB1-441B-AB03-BB1A3F6D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3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63E6"/>
                </a:solidFill>
                <a:latin typeface="Arial"/>
                <a:ea typeface="Arial"/>
                <a:cs typeface="Arial"/>
              </a:rPr>
              <a:t>МИКРОФОН</a:t>
            </a:r>
          </a:p>
        </p:txBody>
      </p:sp>
      <p:sp>
        <p:nvSpPr>
          <p:cNvPr id="7" name="mic-big">
            <a:extLst xmlns:a="http://schemas.openxmlformats.org/drawingml/2006/main">
              <a:ext uri="{FF2B5EF4-FFF2-40B4-BE49-F238E27FC236}">
                <a16:creationId xmlns:a16="http://schemas.microsoft.com/office/drawing/2014/main" id="{6BA83858-B81F-499F-9D02-0CB3DF9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Всегда «Вы»</a:t>
            </a:r>
          </a:p>
        </p:txBody>
      </p:sp>
      <p:sp>
        <p:nvSpPr>
          <p:cNvPr id="8" name="mic-copy">
            <a:extLst xmlns:a="http://schemas.openxmlformats.org/drawingml/2006/main">
              <a:ext uri="{FF2B5EF4-FFF2-40B4-BE49-F238E27FC236}">
                <a16:creationId xmlns:a16="http://schemas.microsoft.com/office/drawing/2014/main" id="{415ED17E-B37F-4015-9970-6E8E97F6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Локальный микрофон не проходит кластеризацию. Роль известна заранее и назначается каждой реплике напрямую.</a:t>
            </a:r>
          </a:p>
        </p:txBody>
      </p:sp>
      <p:sp>
        <p:nvSpPr>
          <p:cNvPr id="9" name="sys-lane">
            <a:extLst xmlns:a="http://schemas.openxmlformats.org/drawingml/2006/main">
              <a:ext uri="{FF2B5EF4-FFF2-40B4-BE49-F238E27FC236}">
                <a16:creationId xmlns:a16="http://schemas.microsoft.com/office/drawing/2014/main" id="{E06498BC-6A03-46F6-BA6B-18D661A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5715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ys-tag">
            <a:extLst xmlns:a="http://schemas.openxmlformats.org/drawingml/2006/main">
              <a:ext uri="{FF2B5EF4-FFF2-40B4-BE49-F238E27FC236}">
                <a16:creationId xmlns:a16="http://schemas.microsoft.com/office/drawing/2014/main" id="{C83B8557-1058-47D6-A95B-89052CC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ЗВУК ПРИЛОЖЕНИЙ</a:t>
            </a:r>
          </a:p>
        </p:txBody>
      </p:sp>
      <p:sp>
        <p:nvSpPr>
          <p:cNvPr id="11" name="sys-big">
            <a:extLst xmlns:a="http://schemas.openxmlformats.org/drawingml/2006/main">
              <a:ext uri="{FF2B5EF4-FFF2-40B4-BE49-F238E27FC236}">
                <a16:creationId xmlns:a16="http://schemas.microsoft.com/office/drawing/2014/main" id="{D8B30933-61D3-4F2A-83E3-2CE3AEE5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Собеседник 1…5</a:t>
            </a:r>
          </a:p>
        </p:txBody>
      </p:sp>
      <p:sp>
        <p:nvSpPr>
          <p:cNvPr id="12" name="sys-copy">
            <a:extLst xmlns:a="http://schemas.openxmlformats.org/drawingml/2006/main">
              <a:ext uri="{FF2B5EF4-FFF2-40B4-BE49-F238E27FC236}">
                <a16:creationId xmlns:a16="http://schemas.microsoft.com/office/drawing/2014/main" id="{C5416806-A66E-463A-A064-8EDDAD3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5EC"/>
                </a:solidFill>
                <a:latin typeface="Arial"/>
                <a:ea typeface="Arial"/>
                <a:cs typeface="Arial"/>
              </a:rPr>
              <a:t>SpeechBrain вычисляет эмбеддинг голоса. Косинусная близость присоединяет реплику к существующему кластеру или создаёт новый.</a:t>
            </a:r>
          </a:p>
        </p:txBody>
      </p:sp>
      <p:sp>
        <p:nvSpPr>
          <p:cNvPr id="13" name="dia-limit">
            <a:extLst xmlns:a="http://schemas.openxmlformats.org/drawingml/2006/main">
              <a:ext uri="{FF2B5EF4-FFF2-40B4-BE49-F238E27FC236}">
                <a16:creationId xmlns:a16="http://schemas.microsoft.com/office/drawing/2014/main" id="{793D22E9-A1F1-4488-857E-77C9EB3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Ограничение: одновременная речь в одном удалённом канале может снизить точность; роль строки можно исправить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539939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7">
            <a:extLst xmlns:a="http://schemas.openxmlformats.org/drawingml/2006/main">
              <a:ext uri="{FF2B5EF4-FFF2-40B4-BE49-F238E27FC236}">
                <a16:creationId xmlns:a16="http://schemas.microsoft.com/office/drawing/2014/main" id="{506F8151-0F8C-4E61-B31F-7AF0ECB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CF9A0B1-8751-4549-98A5-C68A83C1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Две стадии распознавания балансируют скорость во время встречи и качество после неё</a:t>
            </a:r>
          </a:p>
        </p:txBody>
      </p:sp>
      <p:sp>
        <p:nvSpPr>
          <p:cNvPr id="3" name="top-rule-7">
            <a:extLst xmlns:a="http://schemas.openxmlformats.org/drawingml/2006/main">
              <a:ext uri="{FF2B5EF4-FFF2-40B4-BE49-F238E27FC236}">
                <a16:creationId xmlns:a16="http://schemas.microsoft.com/office/drawing/2014/main" id="{26845B92-01C3-462D-B262-1CF2FC9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F41F9FAF-CBCA-4B3A-A85A-73FD8732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live-col">
            <a:extLst xmlns:a="http://schemas.openxmlformats.org/drawingml/2006/main">
              <a:ext uri="{FF2B5EF4-FFF2-40B4-BE49-F238E27FC236}">
                <a16:creationId xmlns:a16="http://schemas.microsoft.com/office/drawing/2014/main" id="{22B6D888-1F3D-4AAF-AD84-94C38AA2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live-kicker">
            <a:extLst xmlns:a="http://schemas.openxmlformats.org/drawingml/2006/main">
              <a:ext uri="{FF2B5EF4-FFF2-40B4-BE49-F238E27FC236}">
                <a16:creationId xmlns:a16="http://schemas.microsoft.com/office/drawing/2014/main" id="{8C5659FD-1299-4677-9484-888C235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ВО ВРЕМЯ ВСТРЕЧИ</a:t>
            </a:r>
          </a:p>
        </p:txBody>
      </p:sp>
      <p:sp>
        <p:nvSpPr>
          <p:cNvPr id="7" name="live-model">
            <a:extLst xmlns:a="http://schemas.openxmlformats.org/drawingml/2006/main">
              <a:ext uri="{FF2B5EF4-FFF2-40B4-BE49-F238E27FC236}">
                <a16:creationId xmlns:a16="http://schemas.microsoft.com/office/drawing/2014/main" id="{B9B2C0B6-142E-484A-B624-FE46F6CD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8" name="live-list-dot-0">
            <a:extLst xmlns:a="http://schemas.openxmlformats.org/drawingml/2006/main">
              <a:ext uri="{FF2B5EF4-FFF2-40B4-BE49-F238E27FC236}">
                <a16:creationId xmlns:a16="http://schemas.microsoft.com/office/drawing/2014/main" id="{7955FAD5-2856-4CEC-A5EF-6459983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live-list-0">
            <a:extLst xmlns:a="http://schemas.openxmlformats.org/drawingml/2006/main">
              <a:ext uri="{FF2B5EF4-FFF2-40B4-BE49-F238E27FC236}">
                <a16:creationId xmlns:a16="http://schemas.microsoft.com/office/drawing/2014/main" id="{C5EF0DBF-1729-4871-831B-0DB1D74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18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CPU: int8 и до 8 потоков</a:t>
            </a:r>
          </a:p>
        </p:txBody>
      </p:sp>
      <p:sp>
        <p:nvSpPr>
          <p:cNvPr id="10" name="live-list-dot-1">
            <a:extLst xmlns:a="http://schemas.openxmlformats.org/drawingml/2006/main">
              <a:ext uri="{FF2B5EF4-FFF2-40B4-BE49-F238E27FC236}">
                <a16:creationId xmlns:a16="http://schemas.microsoft.com/office/drawing/2014/main" id="{870701EC-4DBE-4525-B5B8-85312374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live-list-1">
            <a:extLst xmlns:a="http://schemas.openxmlformats.org/drawingml/2006/main">
              <a:ext uri="{FF2B5EF4-FFF2-40B4-BE49-F238E27FC236}">
                <a16:creationId xmlns:a16="http://schemas.microsoft.com/office/drawing/2014/main" id="{99C92A21-5FD8-426D-AA32-EA012DB6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418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beam_size = 1</a:t>
            </a:r>
          </a:p>
        </p:txBody>
      </p:sp>
      <p:sp>
        <p:nvSpPr>
          <p:cNvPr id="12" name="live-list-dot-2">
            <a:extLst xmlns:a="http://schemas.openxmlformats.org/drawingml/2006/main">
              <a:ext uri="{FF2B5EF4-FFF2-40B4-BE49-F238E27FC236}">
                <a16:creationId xmlns:a16="http://schemas.microsoft.com/office/drawing/2014/main" id="{A23BCD21-F7F3-4216-88D6-1A8B375F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live-list-2">
            <a:extLst xmlns:a="http://schemas.openxmlformats.org/drawingml/2006/main">
              <a:ext uri="{FF2B5EF4-FFF2-40B4-BE49-F238E27FC236}">
                <a16:creationId xmlns:a16="http://schemas.microsoft.com/office/drawing/2014/main" id="{C3CC986D-4E3B-4FFB-A656-F5CAA026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418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 повторного VAD</a:t>
            </a:r>
          </a:p>
        </p:txBody>
      </p:sp>
      <p:sp>
        <p:nvSpPr>
          <p:cNvPr id="14" name="live-list-dot-3">
            <a:extLst xmlns:a="http://schemas.openxmlformats.org/drawingml/2006/main">
              <a:ext uri="{FF2B5EF4-FFF2-40B4-BE49-F238E27FC236}">
                <a16:creationId xmlns:a16="http://schemas.microsoft.com/office/drawing/2014/main" id="{93CDFC61-908A-4846-AF72-363891AB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live-list-3">
            <a:extLst xmlns:a="http://schemas.openxmlformats.org/drawingml/2006/main">
              <a:ext uri="{FF2B5EF4-FFF2-40B4-BE49-F238E27FC236}">
                <a16:creationId xmlns:a16="http://schemas.microsoft.com/office/drawing/2014/main" id="{87249615-2C69-46D7-BEFB-61986984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18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приоритет — непрерывная работа</a:t>
            </a:r>
          </a:p>
        </p:txBody>
      </p:sp>
      <p:sp>
        <p:nvSpPr>
          <p:cNvPr id="16" name="final-col">
            <a:extLst xmlns:a="http://schemas.openxmlformats.org/drawingml/2006/main">
              <a:ext uri="{FF2B5EF4-FFF2-40B4-BE49-F238E27FC236}">
                <a16:creationId xmlns:a16="http://schemas.microsoft.com/office/drawing/2014/main" id="{2D18A58F-50CA-48C2-87FF-AF5E0496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57150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nal-kicker">
            <a:extLst xmlns:a="http://schemas.openxmlformats.org/drawingml/2006/main">
              <a:ext uri="{FF2B5EF4-FFF2-40B4-BE49-F238E27FC236}">
                <a16:creationId xmlns:a16="http://schemas.microsoft.com/office/drawing/2014/main" id="{53FD0850-E1EE-42F2-814D-0519783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B9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B98A"/>
                </a:solidFill>
                <a:latin typeface="Arial"/>
                <a:ea typeface="Arial"/>
                <a:cs typeface="Arial"/>
              </a:rPr>
              <a:t>ПОСЛЕ ОСТАНОВКИ</a:t>
            </a:r>
          </a:p>
        </p:txBody>
      </p:sp>
      <p:sp>
        <p:nvSpPr>
          <p:cNvPr id="18" name="final-model">
            <a:extLst xmlns:a="http://schemas.openxmlformats.org/drawingml/2006/main">
              <a:ext uri="{FF2B5EF4-FFF2-40B4-BE49-F238E27FC236}">
                <a16:creationId xmlns:a16="http://schemas.microsoft.com/office/drawing/2014/main" id="{C64D2253-0FA8-4C08-85CC-7B8797AF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small / turbo</a:t>
            </a:r>
          </a:p>
        </p:txBody>
      </p:sp>
      <p:sp>
        <p:nvSpPr>
          <p:cNvPr id="19" name="final-list-dot-0">
            <a:extLst xmlns:a="http://schemas.openxmlformats.org/drawingml/2006/main">
              <a:ext uri="{FF2B5EF4-FFF2-40B4-BE49-F238E27FC236}">
                <a16:creationId xmlns:a16="http://schemas.microsoft.com/office/drawing/2014/main" id="{4A3DECEA-FD93-4C9F-BB94-0D8D29C4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final-list-0">
            <a:extLst xmlns:a="http://schemas.openxmlformats.org/drawingml/2006/main">
              <a:ext uri="{FF2B5EF4-FFF2-40B4-BE49-F238E27FC236}">
                <a16:creationId xmlns:a16="http://schemas.microsoft.com/office/drawing/2014/main" id="{3304D135-E0D0-4BC1-A87F-1686ABE5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пакетная обработка дорожек</a:t>
            </a:r>
          </a:p>
        </p:txBody>
      </p:sp>
      <p:sp>
        <p:nvSpPr>
          <p:cNvPr id="21" name="final-list-dot-1">
            <a:extLst xmlns:a="http://schemas.openxmlformats.org/drawingml/2006/main">
              <a:ext uri="{FF2B5EF4-FFF2-40B4-BE49-F238E27FC236}">
                <a16:creationId xmlns:a16="http://schemas.microsoft.com/office/drawing/2014/main" id="{EC792C00-1927-4D3D-ACE4-18C9A583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final-list-1">
            <a:extLst xmlns:a="http://schemas.openxmlformats.org/drawingml/2006/main">
              <a:ext uri="{FF2B5EF4-FFF2-40B4-BE49-F238E27FC236}">
                <a16:creationId xmlns:a16="http://schemas.microsoft.com/office/drawing/2014/main" id="{41642018-FD20-437C-AB59-BDD8EFA9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VAD пропускает тишину</a:t>
            </a:r>
          </a:p>
        </p:txBody>
      </p:sp>
      <p:sp>
        <p:nvSpPr>
          <p:cNvPr id="23" name="final-list-dot-2">
            <a:extLst xmlns:a="http://schemas.openxmlformats.org/drawingml/2006/main">
              <a:ext uri="{FF2B5EF4-FFF2-40B4-BE49-F238E27FC236}">
                <a16:creationId xmlns:a16="http://schemas.microsoft.com/office/drawing/2014/main" id="{F467147F-3855-44B0-B9C9-AC515DF9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final-list-2">
            <a:extLst xmlns:a="http://schemas.openxmlformats.org/drawingml/2006/main">
              <a:ext uri="{FF2B5EF4-FFF2-40B4-BE49-F238E27FC236}">
                <a16:creationId xmlns:a16="http://schemas.microsoft.com/office/drawing/2014/main" id="{664214F6-F7FE-4978-A6B4-B836E51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small — профиль по умолчанию</a:t>
            </a:r>
          </a:p>
        </p:txBody>
      </p:sp>
      <p:sp>
        <p:nvSpPr>
          <p:cNvPr id="25" name="final-list-dot-3">
            <a:extLst xmlns:a="http://schemas.openxmlformats.org/drawingml/2006/main">
              <a:ext uri="{FF2B5EF4-FFF2-40B4-BE49-F238E27FC236}">
                <a16:creationId xmlns:a16="http://schemas.microsoft.com/office/drawing/2014/main" id="{E4AE3A76-57C6-4019-A282-6D8F9F66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final-list-3">
            <a:extLst xmlns:a="http://schemas.openxmlformats.org/drawingml/2006/main">
              <a:ext uri="{FF2B5EF4-FFF2-40B4-BE49-F238E27FC236}">
                <a16:creationId xmlns:a16="http://schemas.microsoft.com/office/drawing/2014/main" id="{07873C60-7621-41FA-BD23-00DB8230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large-v3 — максимум точности на GPU</a:t>
            </a:r>
          </a:p>
        </p:txBody>
      </p:sp>
      <p:sp>
        <p:nvSpPr>
          <p:cNvPr id="27" name="model-safety">
            <a:extLst xmlns:a="http://schemas.openxmlformats.org/drawingml/2006/main">
              <a:ext uri="{FF2B5EF4-FFF2-40B4-BE49-F238E27FC236}">
                <a16:creationId xmlns:a16="http://schemas.microsoft.com/office/drawing/2014/main" id="{239A2B93-8820-416C-9F58-E44E3F8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5D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F5D72"/>
                </a:solidFill>
                <a:latin typeface="Arial"/>
                <a:ea typeface="Arial"/>
                <a:cs typeface="Arial"/>
              </a:rPr>
              <a:t>Если уточнение не удалось, живой текст не заменяется.</a:t>
            </a:r>
          </a:p>
        </p:txBody>
      </p:sp>
    </p:spTree>
    <p:extLst>
      <p:ext uri="{BB962C8B-B14F-4D97-AF65-F5344CB8AC3E}">
        <p14:creationId xmlns:p14="http://schemas.microsoft.com/office/powerpoint/2010/main" val="2038169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8">
            <a:extLst xmlns:a="http://schemas.openxmlformats.org/drawingml/2006/main">
              <a:ext uri="{FF2B5EF4-FFF2-40B4-BE49-F238E27FC236}">
                <a16:creationId xmlns:a16="http://schemas.microsoft.com/office/drawing/2014/main" id="{734CF441-D68C-402D-80F3-0C905F93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E095AD3-705E-4D36-9DFE-F5369EF2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4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Словари направляют Whisper к терминам именно этой встречи</a:t>
            </a:r>
          </a:p>
        </p:txBody>
      </p:sp>
      <p:sp>
        <p:nvSpPr>
          <p:cNvPr id="3" name="top-rule-8">
            <a:extLst xmlns:a="http://schemas.openxmlformats.org/drawingml/2006/main">
              <a:ext uri="{FF2B5EF4-FFF2-40B4-BE49-F238E27FC236}">
                <a16:creationId xmlns:a16="http://schemas.microsoft.com/office/drawing/2014/main" id="{DECD8F45-18A1-483A-ACF3-DE4719C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5C83FF0D-A57D-44C2-9082-F4CB7894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ct-number">
            <a:extLst xmlns:a="http://schemas.openxmlformats.org/drawingml/2006/main">
              <a:ext uri="{FF2B5EF4-FFF2-40B4-BE49-F238E27FC236}">
                <a16:creationId xmlns:a16="http://schemas.microsoft.com/office/drawing/2014/main" id="{D24A2E41-D4EC-466E-BCBF-85313FA4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dict-label">
            <a:extLst xmlns:a="http://schemas.openxmlformats.org/drawingml/2006/main">
              <a:ext uri="{FF2B5EF4-FFF2-40B4-BE49-F238E27FC236}">
                <a16:creationId xmlns:a16="http://schemas.microsoft.com/office/drawing/2014/main" id="{C561D5C0-81B4-4F49-A923-08F139F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0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встроенных тематических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TXT-словарей</a:t>
            </a:r>
          </a:p>
        </p:txBody>
      </p:sp>
      <p:sp>
        <p:nvSpPr>
          <p:cNvPr id="7" name="dict-divider">
            <a:extLst xmlns:a="http://schemas.openxmlformats.org/drawingml/2006/main">
              <a:ext uri="{FF2B5EF4-FFF2-40B4-BE49-F238E27FC236}">
                <a16:creationId xmlns:a16="http://schemas.microsoft.com/office/drawing/2014/main" id="{823446F3-5D47-4741-9B11-3FB94F26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ict-h-0">
            <a:extLst xmlns:a="http://schemas.openxmlformats.org/drawingml/2006/main">
              <a:ext uri="{FF2B5EF4-FFF2-40B4-BE49-F238E27FC236}">
                <a16:creationId xmlns:a16="http://schemas.microsoft.com/office/drawing/2014/main" id="{B976DA82-225F-4B27-8191-05A2715A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Темы</a:t>
            </a:r>
          </a:p>
        </p:txBody>
      </p:sp>
      <p:sp>
        <p:nvSpPr>
          <p:cNvPr id="9" name="dict-b-0">
            <a:extLst xmlns:a="http://schemas.openxmlformats.org/drawingml/2006/main">
              <a:ext uri="{FF2B5EF4-FFF2-40B4-BE49-F238E27FC236}">
                <a16:creationId xmlns:a16="http://schemas.microsoft.com/office/drawing/2014/main" id="{F99E845A-6904-4D1D-8D6D-17D66A9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IT, API, данные, DevOps, аудио и AI, банковские и платёжные процессы</a:t>
            </a:r>
          </a:p>
        </p:txBody>
      </p:sp>
      <p:sp>
        <p:nvSpPr>
          <p:cNvPr id="10" name="dict-h-1">
            <a:extLst xmlns:a="http://schemas.openxmlformats.org/drawingml/2006/main">
              <a:ext uri="{FF2B5EF4-FFF2-40B4-BE49-F238E27FC236}">
                <a16:creationId xmlns:a16="http://schemas.microsoft.com/office/drawing/2014/main" id="{3F8A329B-F872-49E0-9385-996CDA7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Выбор</a:t>
            </a:r>
          </a:p>
        </p:txBody>
      </p:sp>
      <p:sp>
        <p:nvSpPr>
          <p:cNvPr id="11" name="dict-b-1">
            <a:extLst xmlns:a="http://schemas.openxmlformats.org/drawingml/2006/main">
              <a:ext uri="{FF2B5EF4-FFF2-40B4-BE49-F238E27FC236}">
                <a16:creationId xmlns:a16="http://schemas.microsoft.com/office/drawing/2014/main" id="{5064CECC-70AA-4A1C-BE2E-D9ECCD7D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767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один, несколько или все словари; собственные файлы можно создавать и редактировать</a:t>
            </a:r>
          </a:p>
        </p:txBody>
      </p:sp>
      <p:sp>
        <p:nvSpPr>
          <p:cNvPr id="12" name="dict-h-2">
            <a:extLst xmlns:a="http://schemas.openxmlformats.org/drawingml/2006/main">
              <a:ext uri="{FF2B5EF4-FFF2-40B4-BE49-F238E27FC236}">
                <a16:creationId xmlns:a16="http://schemas.microsoft.com/office/drawing/2014/main" id="{CCC241D4-C047-4760-B7F2-A4E23D67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Приоритет</a:t>
            </a:r>
          </a:p>
        </p:txBody>
      </p:sp>
      <p:sp>
        <p:nvSpPr>
          <p:cNvPr id="13" name="dict-b-2">
            <a:extLst xmlns:a="http://schemas.openxmlformats.org/drawingml/2006/main">
              <a:ext uri="{FF2B5EF4-FFF2-40B4-BE49-F238E27FC236}">
                <a16:creationId xmlns:a16="http://schemas.microsoft.com/office/drawing/2014/main" id="{5992338C-66C9-45C3-8252-4EE7243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слова встречи идут первыми, затем термины равномерно выбираются из активных словарей</a:t>
            </a:r>
          </a:p>
        </p:txBody>
      </p:sp>
      <p:sp>
        <p:nvSpPr>
          <p:cNvPr id="14" name="dict-h-3">
            <a:extLst xmlns:a="http://schemas.openxmlformats.org/drawingml/2006/main">
              <a:ext uri="{FF2B5EF4-FFF2-40B4-BE49-F238E27FC236}">
                <a16:creationId xmlns:a16="http://schemas.microsoft.com/office/drawing/2014/main" id="{B8406005-D716-465D-9B91-5E1242C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Лимит</a:t>
            </a:r>
          </a:p>
        </p:txBody>
      </p:sp>
      <p:sp>
        <p:nvSpPr>
          <p:cNvPr id="15" name="dict-b-3">
            <a:extLst xmlns:a="http://schemas.openxmlformats.org/drawingml/2006/main">
              <a:ext uri="{FF2B5EF4-FFF2-40B4-BE49-F238E27FC236}">
                <a16:creationId xmlns:a16="http://schemas.microsoft.com/office/drawing/2014/main" id="{0B93C8F5-2B25-4975-BA30-A1246BD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767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подсказка ограничена примерно 200 терминами, чтобы не перегружать контекст модели</a:t>
            </a:r>
          </a:p>
        </p:txBody>
      </p:sp>
    </p:spTree>
    <p:extLst>
      <p:ext uri="{BB962C8B-B14F-4D97-AF65-F5344CB8AC3E}">
        <p14:creationId xmlns:p14="http://schemas.microsoft.com/office/powerpoint/2010/main" val="1410819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9">
            <a:extLst xmlns:a="http://schemas.openxmlformats.org/drawingml/2006/main">
              <a:ext uri="{FF2B5EF4-FFF2-40B4-BE49-F238E27FC236}">
                <a16:creationId xmlns:a16="http://schemas.microsoft.com/office/drawing/2014/main" id="{AF1B2554-E72B-48E7-8849-26A2609D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1614CCD-2925-475E-A0BB-67DC7829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Данные встречи остаются на компьютере и доступны в открытых форматах</a:t>
            </a:r>
          </a:p>
        </p:txBody>
      </p:sp>
      <p:sp>
        <p:nvSpPr>
          <p:cNvPr id="3" name="top-rule-9">
            <a:extLst xmlns:a="http://schemas.openxmlformats.org/drawingml/2006/main">
              <a:ext uri="{FF2B5EF4-FFF2-40B4-BE49-F238E27FC236}">
                <a16:creationId xmlns:a16="http://schemas.microsoft.com/office/drawing/2014/main" id="{6D5D2781-0677-4880-8FF7-F91CFDA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02EE920A-7569-4F32-9AC0-F8D31FF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privacy-left">
            <a:extLst xmlns:a="http://schemas.openxmlformats.org/drawingml/2006/main">
              <a:ext uri="{FF2B5EF4-FFF2-40B4-BE49-F238E27FC236}">
                <a16:creationId xmlns:a16="http://schemas.microsoft.com/office/drawing/2014/main" id="{C0E3EA8D-2F76-4548-88F6-DE61D5E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857750" cy="35242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ivacy-local">
            <a:extLst xmlns:a="http://schemas.openxmlformats.org/drawingml/2006/main">
              <a:ext uri="{FF2B5EF4-FFF2-40B4-BE49-F238E27FC236}">
                <a16:creationId xmlns:a16="http://schemas.microsoft.com/office/drawing/2014/main" id="{FF775E26-577E-443B-B8BB-CFD678F1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7" name="privacy-copy">
            <a:extLst xmlns:a="http://schemas.openxmlformats.org/drawingml/2006/main">
              <a:ext uri="{FF2B5EF4-FFF2-40B4-BE49-F238E27FC236}">
                <a16:creationId xmlns:a16="http://schemas.microsoft.com/office/drawing/2014/main" id="{4D3B489C-CEA6-43CE-9B57-5F43F21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5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5EC"/>
                </a:solidFill>
                <a:latin typeface="Arial"/>
                <a:ea typeface="Arial"/>
                <a:cs typeface="Arial"/>
              </a:rPr>
              <a:t>Аудио, модели и стенограммы не требуют облачного API или API-ключа. После первой загрузки моделей приложение может работать без интернета.</a:t>
            </a:r>
          </a:p>
        </p:txBody>
      </p:sp>
      <p:sp>
        <p:nvSpPr>
          <p:cNvPr id="8" name="privacy-path">
            <a:extLst xmlns:a="http://schemas.openxmlformats.org/drawingml/2006/main">
              <a:ext uri="{FF2B5EF4-FFF2-40B4-BE49-F238E27FC236}">
                <a16:creationId xmlns:a16="http://schemas.microsoft.com/office/drawing/2014/main" id="{B230220F-3CC2-4017-91F0-71C5900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%USERPROFILE%\Documents\CoreTranscriber</a:t>
            </a:r>
          </a:p>
        </p:txBody>
      </p:sp>
      <p:sp>
        <p:nvSpPr>
          <p:cNvPr id="9" name="outputs-head">
            <a:extLst xmlns:a="http://schemas.openxmlformats.org/drawingml/2006/main">
              <a:ext uri="{FF2B5EF4-FFF2-40B4-BE49-F238E27FC236}">
                <a16:creationId xmlns:a16="http://schemas.microsoft.com/office/drawing/2014/main" id="{1D6F0DE3-699A-4635-9FE9-E900D6C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Содержимое папки встречи</a:t>
            </a:r>
          </a:p>
        </p:txBody>
      </p:sp>
      <p:sp>
        <p:nvSpPr>
          <p:cNvPr id="10" name="out-h-0">
            <a:extLst xmlns:a="http://schemas.openxmlformats.org/drawingml/2006/main">
              <a:ext uri="{FF2B5EF4-FFF2-40B4-BE49-F238E27FC236}">
                <a16:creationId xmlns:a16="http://schemas.microsoft.com/office/drawing/2014/main" id="{E24337F4-14C9-4D2D-9852-8F91AFB4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microphone.wav</a:t>
            </a:r>
          </a:p>
        </p:txBody>
      </p:sp>
      <p:sp>
        <p:nvSpPr>
          <p:cNvPr id="11" name="out-b-0">
            <a:extLst xmlns:a="http://schemas.openxmlformats.org/drawingml/2006/main">
              <a:ext uri="{FF2B5EF4-FFF2-40B4-BE49-F238E27FC236}">
                <a16:creationId xmlns:a16="http://schemas.microsoft.com/office/drawing/2014/main" id="{41DB7BA3-651D-44F1-A19A-6C179B9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ваша дорожка</a:t>
            </a:r>
          </a:p>
        </p:txBody>
      </p:sp>
      <p:sp>
        <p:nvSpPr>
          <p:cNvPr id="12" name="out-rule-0">
            <a:extLst xmlns:a="http://schemas.openxmlformats.org/drawingml/2006/main">
              <a:ext uri="{FF2B5EF4-FFF2-40B4-BE49-F238E27FC236}">
                <a16:creationId xmlns:a16="http://schemas.microsoft.com/office/drawing/2014/main" id="{38C65A13-D284-4126-9011-9FF08C0A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908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out-h-1">
            <a:extLst xmlns:a="http://schemas.openxmlformats.org/drawingml/2006/main">
              <a:ext uri="{FF2B5EF4-FFF2-40B4-BE49-F238E27FC236}">
                <a16:creationId xmlns:a16="http://schemas.microsoft.com/office/drawing/2014/main" id="{655473C4-7F95-4E3A-867E-878BB270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system_audio.wav</a:t>
            </a:r>
          </a:p>
        </p:txBody>
      </p:sp>
      <p:sp>
        <p:nvSpPr>
          <p:cNvPr id="14" name="out-b-1">
            <a:extLst xmlns:a="http://schemas.openxmlformats.org/drawingml/2006/main">
              <a:ext uri="{FF2B5EF4-FFF2-40B4-BE49-F238E27FC236}">
                <a16:creationId xmlns:a16="http://schemas.microsoft.com/office/drawing/2014/main" id="{85F86BB2-101A-4633-96D6-A8C08C9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43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звук приложений</a:t>
            </a:r>
          </a:p>
        </p:txBody>
      </p:sp>
      <p:sp>
        <p:nvSpPr>
          <p:cNvPr id="15" name="out-rule-1">
            <a:extLst xmlns:a="http://schemas.openxmlformats.org/drawingml/2006/main">
              <a:ext uri="{FF2B5EF4-FFF2-40B4-BE49-F238E27FC236}">
                <a16:creationId xmlns:a16="http://schemas.microsoft.com/office/drawing/2014/main" id="{4B0846BD-2F5C-4159-B08B-D1EAE94A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6" name="out-h-2">
            <a:extLst xmlns:a="http://schemas.openxmlformats.org/drawingml/2006/main">
              <a:ext uri="{FF2B5EF4-FFF2-40B4-BE49-F238E27FC236}">
                <a16:creationId xmlns:a16="http://schemas.microsoft.com/office/drawing/2014/main" id="{A5B94064-9F9C-466F-BA5F-EC362A9D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TXT / Markdown</a:t>
            </a:r>
          </a:p>
        </p:txBody>
      </p:sp>
      <p:sp>
        <p:nvSpPr>
          <p:cNvPr id="17" name="out-b-2">
            <a:extLst xmlns:a="http://schemas.openxmlformats.org/drawingml/2006/main">
              <a:ext uri="{FF2B5EF4-FFF2-40B4-BE49-F238E27FC236}">
                <a16:creationId xmlns:a16="http://schemas.microsoft.com/office/drawing/2014/main" id="{E94EE71A-6B74-427B-B1FC-9B1A64E3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читаемый протокол</a:t>
            </a:r>
          </a:p>
        </p:txBody>
      </p:sp>
      <p:sp>
        <p:nvSpPr>
          <p:cNvPr id="18" name="out-rule-2">
            <a:extLst xmlns:a="http://schemas.openxmlformats.org/drawingml/2006/main">
              <a:ext uri="{FF2B5EF4-FFF2-40B4-BE49-F238E27FC236}">
                <a16:creationId xmlns:a16="http://schemas.microsoft.com/office/drawing/2014/main" id="{6465197C-BD76-4F39-95AB-648C7197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6237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9" name="out-h-3">
            <a:extLst xmlns:a="http://schemas.openxmlformats.org/drawingml/2006/main">
              <a:ext uri="{FF2B5EF4-FFF2-40B4-BE49-F238E27FC236}">
                <a16:creationId xmlns:a16="http://schemas.microsoft.com/office/drawing/2014/main" id="{22EB42CF-1746-4094-97B8-F3465DD6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20" name="out-b-3">
            <a:extLst xmlns:a="http://schemas.openxmlformats.org/drawingml/2006/main">
              <a:ext uri="{FF2B5EF4-FFF2-40B4-BE49-F238E27FC236}">
                <a16:creationId xmlns:a16="http://schemas.microsoft.com/office/drawing/2014/main" id="{75F58C49-20B2-4694-9953-CEB2FDA2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14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структурированные данные</a:t>
            </a:r>
          </a:p>
        </p:txBody>
      </p:sp>
      <p:sp>
        <p:nvSpPr>
          <p:cNvPr id="21" name="out-rule-3">
            <a:extLst xmlns:a="http://schemas.openxmlformats.org/drawingml/2006/main">
              <a:ext uri="{FF2B5EF4-FFF2-40B4-BE49-F238E27FC236}">
                <a16:creationId xmlns:a16="http://schemas.microsoft.com/office/drawing/2014/main" id="{321508F2-FBCA-4A40-9D2B-A8CBF4F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481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2" name="out-h-4">
            <a:extLst xmlns:a="http://schemas.openxmlformats.org/drawingml/2006/main">
              <a:ext uri="{FF2B5EF4-FFF2-40B4-BE49-F238E27FC236}">
                <a16:creationId xmlns:a16="http://schemas.microsoft.com/office/drawing/2014/main" id="{D187C7E7-69BC-46FA-9FBF-836F3AF5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SRT</a:t>
            </a:r>
          </a:p>
        </p:txBody>
      </p:sp>
      <p:sp>
        <p:nvSpPr>
          <p:cNvPr id="23" name="out-b-4">
            <a:extLst xmlns:a="http://schemas.openxmlformats.org/drawingml/2006/main">
              <a:ext uri="{FF2B5EF4-FFF2-40B4-BE49-F238E27FC236}">
                <a16:creationId xmlns:a16="http://schemas.microsoft.com/office/drawing/2014/main" id="{82480954-8CFF-43F6-8842-2D24F964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субтитры с таймкодами</a:t>
            </a:r>
          </a:p>
        </p:txBody>
      </p:sp>
      <p:sp>
        <p:nvSpPr>
          <p:cNvPr id="24" name="out-rule-4">
            <a:extLst xmlns:a="http://schemas.openxmlformats.org/drawingml/2006/main">
              <a:ext uri="{FF2B5EF4-FFF2-40B4-BE49-F238E27FC236}">
                <a16:creationId xmlns:a16="http://schemas.microsoft.com/office/drawing/2014/main" id="{73D130FC-37A6-44D2-9109-B080185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339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5" name="out-h-5">
            <a:extLst xmlns:a="http://schemas.openxmlformats.org/drawingml/2006/main">
              <a:ext uri="{FF2B5EF4-FFF2-40B4-BE49-F238E27FC236}">
                <a16:creationId xmlns:a16="http://schemas.microsoft.com/office/drawing/2014/main" id="{1C3AC32B-ED29-4AC3-8DC6-C8959E6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86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DOCX</a:t>
            </a:r>
          </a:p>
        </p:txBody>
      </p:sp>
      <p:sp>
        <p:nvSpPr>
          <p:cNvPr id="26" name="out-b-5">
            <a:extLst xmlns:a="http://schemas.openxmlformats.org/drawingml/2006/main">
              <a:ext uri="{FF2B5EF4-FFF2-40B4-BE49-F238E27FC236}">
                <a16:creationId xmlns:a16="http://schemas.microsoft.com/office/drawing/2014/main" id="{1F2133BC-2935-467B-9C07-1CBD20EA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86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документ для передачи</a:t>
            </a:r>
          </a:p>
        </p:txBody>
      </p:sp>
      <p:sp>
        <p:nvSpPr>
          <p:cNvPr id="27" name="out-rule-5">
            <a:extLst xmlns:a="http://schemas.openxmlformats.org/drawingml/2006/main">
              <a:ext uri="{FF2B5EF4-FFF2-40B4-BE49-F238E27FC236}">
                <a16:creationId xmlns:a16="http://schemas.microsoft.com/office/drawing/2014/main" id="{90E24739-EE4A-4DA1-99F1-EF42855F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197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3328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10">
            <a:extLst xmlns:a="http://schemas.openxmlformats.org/drawingml/2006/main">
              <a:ext uri="{FF2B5EF4-FFF2-40B4-BE49-F238E27FC236}">
                <a16:creationId xmlns:a16="http://schemas.microsoft.com/office/drawing/2014/main" id="{9B06D30E-2F04-4B69-BA27-7AB5B223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25A079D-7A8D-4FD6-967B-F811E24C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Интерфейс поддерживает не только запись, но и исправление результата</a:t>
            </a:r>
          </a:p>
        </p:txBody>
      </p:sp>
      <p:sp>
        <p:nvSpPr>
          <p:cNvPr id="3" name="top-rule-10">
            <a:extLst xmlns:a="http://schemas.openxmlformats.org/drawingml/2006/main">
              <a:ext uri="{FF2B5EF4-FFF2-40B4-BE49-F238E27FC236}">
                <a16:creationId xmlns:a16="http://schemas.microsoft.com/office/drawing/2014/main" id="{F7792BCC-BC47-46B1-82F4-BB9D630D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CA97F7D6-3BAD-4DB2-ADBF-E09CAEE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ui-h-0">
            <a:extLst xmlns:a="http://schemas.openxmlformats.org/drawingml/2006/main">
              <a:ext uri="{FF2B5EF4-FFF2-40B4-BE49-F238E27FC236}">
                <a16:creationId xmlns:a16="http://schemas.microsoft.com/office/drawing/2014/main" id="{3CD901E5-29A2-4C73-98AA-200CB64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Редактирование строки</a:t>
            </a:r>
          </a:p>
        </p:txBody>
      </p:sp>
      <p:sp>
        <p:nvSpPr>
          <p:cNvPr id="6" name="ui-b-0">
            <a:extLst xmlns:a="http://schemas.openxmlformats.org/drawingml/2006/main">
              <a:ext uri="{FF2B5EF4-FFF2-40B4-BE49-F238E27FC236}">
                <a16:creationId xmlns:a16="http://schemas.microsoft.com/office/drawing/2014/main" id="{B43714DA-E525-4F13-9B62-566412B9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двойной щелчок меняет роль или открывает большой редактор текста</a:t>
            </a:r>
          </a:p>
        </p:txBody>
      </p:sp>
      <p:sp>
        <p:nvSpPr>
          <p:cNvPr id="7" name="ui-h-1">
            <a:extLst xmlns:a="http://schemas.openxmlformats.org/drawingml/2006/main">
              <a:ext uri="{FF2B5EF4-FFF2-40B4-BE49-F238E27FC236}">
                <a16:creationId xmlns:a16="http://schemas.microsoft.com/office/drawing/2014/main" id="{D4245D36-0E99-4A92-B4E0-96383A9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Подготовка моделей</a:t>
            </a:r>
          </a:p>
        </p:txBody>
      </p:sp>
      <p:sp>
        <p:nvSpPr>
          <p:cNvPr id="8" name="ui-b-1">
            <a:extLst xmlns:a="http://schemas.openxmlformats.org/drawingml/2006/main">
              <a:ext uri="{FF2B5EF4-FFF2-40B4-BE49-F238E27FC236}">
                <a16:creationId xmlns:a16="http://schemas.microsoft.com/office/drawing/2014/main" id="{F677B96B-FEA0-4321-94D2-A0FDA3F3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загрузка живой, итоговой и голосовой моделей до начала встречи</a:t>
            </a:r>
          </a:p>
        </p:txBody>
      </p:sp>
      <p:sp>
        <p:nvSpPr>
          <p:cNvPr id="9" name="ui-h-2">
            <a:extLst xmlns:a="http://schemas.openxmlformats.org/drawingml/2006/main">
              <a:ext uri="{FF2B5EF4-FFF2-40B4-BE49-F238E27FC236}">
                <a16:creationId xmlns:a16="http://schemas.microsoft.com/office/drawing/2014/main" id="{91F9998B-D95D-4618-8B9F-DAA42D53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Состояние конвейера</a:t>
            </a:r>
          </a:p>
        </p:txBody>
      </p:sp>
      <p:sp>
        <p:nvSpPr>
          <p:cNvPr id="10" name="ui-b-2">
            <a:extLst xmlns:a="http://schemas.openxmlformats.org/drawingml/2006/main">
              <a:ext uri="{FF2B5EF4-FFF2-40B4-BE49-F238E27FC236}">
                <a16:creationId xmlns:a16="http://schemas.microsoft.com/office/drawing/2014/main" id="{DDCA55C4-B7E7-4F00-9421-EDA686F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таймер, число реплик, сообщения об отставании и завершении</a:t>
            </a:r>
          </a:p>
        </p:txBody>
      </p:sp>
      <p:sp>
        <p:nvSpPr>
          <p:cNvPr id="11" name="ui-h-3">
            <a:extLst xmlns:a="http://schemas.openxmlformats.org/drawingml/2006/main">
              <a:ext uri="{FF2B5EF4-FFF2-40B4-BE49-F238E27FC236}">
                <a16:creationId xmlns:a16="http://schemas.microsoft.com/office/drawing/2014/main" id="{08042DD6-EF47-4AFF-BBE5-DFE7E6E5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Управление словарями</a:t>
            </a:r>
          </a:p>
        </p:txBody>
      </p:sp>
      <p:sp>
        <p:nvSpPr>
          <p:cNvPr id="12" name="ui-b-3">
            <a:extLst xmlns:a="http://schemas.openxmlformats.org/drawingml/2006/main">
              <a:ext uri="{FF2B5EF4-FFF2-40B4-BE49-F238E27FC236}">
                <a16:creationId xmlns:a16="http://schemas.microsoft.com/office/drawing/2014/main" id="{DAB0AF9D-E9FD-4D67-941B-02CACEAF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создание, изменение, удаление и открытие TXT-файлов</a:t>
            </a:r>
          </a:p>
        </p:txBody>
      </p:sp>
      <p:sp>
        <p:nvSpPr>
          <p:cNvPr id="13" name="themes-head">
            <a:extLst xmlns:a="http://schemas.openxmlformats.org/drawingml/2006/main">
              <a:ext uri="{FF2B5EF4-FFF2-40B4-BE49-F238E27FC236}">
                <a16:creationId xmlns:a16="http://schemas.microsoft.com/office/drawing/2014/main" id="{7E2AC27C-7D2A-4CFE-B3F1-526982B1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тем оформления</a:t>
            </a:r>
          </a:p>
        </p:txBody>
      </p:sp>
      <p:sp>
        <p:nvSpPr>
          <p:cNvPr id="14" name="theme-0">
            <a:extLst xmlns:a="http://schemas.openxmlformats.org/drawingml/2006/main">
              <a:ext uri="{FF2B5EF4-FFF2-40B4-BE49-F238E27FC236}">
                <a16:creationId xmlns:a16="http://schemas.microsoft.com/office/drawing/2014/main" id="{98122E7A-7A65-40E7-B0D6-5017E5FC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4193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heme-accent-0">
            <a:extLst xmlns:a="http://schemas.openxmlformats.org/drawingml/2006/main">
              <a:ext uri="{FF2B5EF4-FFF2-40B4-BE49-F238E27FC236}">
                <a16:creationId xmlns:a16="http://schemas.microsoft.com/office/drawing/2014/main" id="{1FB5FDCD-5AC2-4AEB-B97E-AFEDD523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13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eme-label-0">
            <a:extLst xmlns:a="http://schemas.openxmlformats.org/drawingml/2006/main">
              <a:ext uri="{FF2B5EF4-FFF2-40B4-BE49-F238E27FC236}">
                <a16:creationId xmlns:a16="http://schemas.microsoft.com/office/drawing/2014/main" id="{075BD418-F2F8-4FCB-8588-EBA2AA45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Minimal Light</a:t>
            </a:r>
          </a:p>
        </p:txBody>
      </p:sp>
      <p:sp>
        <p:nvSpPr>
          <p:cNvPr id="17" name="theme-1">
            <a:extLst xmlns:a="http://schemas.openxmlformats.org/drawingml/2006/main">
              <a:ext uri="{FF2B5EF4-FFF2-40B4-BE49-F238E27FC236}">
                <a16:creationId xmlns:a16="http://schemas.microsoft.com/office/drawing/2014/main" id="{AEDB5611-930D-44C4-B2AA-65B7764A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4193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31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heme-accent-1">
            <a:extLst xmlns:a="http://schemas.openxmlformats.org/drawingml/2006/main">
              <a:ext uri="{FF2B5EF4-FFF2-40B4-BE49-F238E27FC236}">
                <a16:creationId xmlns:a16="http://schemas.microsoft.com/office/drawing/2014/main" id="{99FC3AE3-3ABB-4EF4-AA58-87B6197D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13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heme-label-1">
            <a:extLst xmlns:a="http://schemas.openxmlformats.org/drawingml/2006/main">
              <a:ext uri="{FF2B5EF4-FFF2-40B4-BE49-F238E27FC236}">
                <a16:creationId xmlns:a16="http://schemas.microsoft.com/office/drawing/2014/main" id="{DD801867-1FEE-4B63-85DF-D2954243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Modern Dark</a:t>
            </a:r>
          </a:p>
        </p:txBody>
      </p:sp>
      <p:sp>
        <p:nvSpPr>
          <p:cNvPr id="20" name="theme-2">
            <a:extLst xmlns:a="http://schemas.openxmlformats.org/drawingml/2006/main">
              <a:ext uri="{FF2B5EF4-FFF2-40B4-BE49-F238E27FC236}">
                <a16:creationId xmlns:a16="http://schemas.microsoft.com/office/drawing/2014/main" id="{476EEF92-059C-43CD-962A-1FC1BE1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24193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8688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heme-accent-2">
            <a:extLst xmlns:a="http://schemas.openxmlformats.org/drawingml/2006/main">
              <a:ext uri="{FF2B5EF4-FFF2-40B4-BE49-F238E27FC236}">
                <a16:creationId xmlns:a16="http://schemas.microsoft.com/office/drawing/2014/main" id="{90EF99E3-6A3D-4F0C-A689-9CFD32C0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13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heme-label-2">
            <a:extLst xmlns:a="http://schemas.openxmlformats.org/drawingml/2006/main">
              <a:ext uri="{FF2B5EF4-FFF2-40B4-BE49-F238E27FC236}">
                <a16:creationId xmlns:a16="http://schemas.microsoft.com/office/drawing/2014/main" id="{2F8E2BDA-EBB5-479A-9EA6-FE3A52E2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480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Glass / Fluent</a:t>
            </a:r>
          </a:p>
        </p:txBody>
      </p:sp>
      <p:sp>
        <p:nvSpPr>
          <p:cNvPr id="23" name="theme-3">
            <a:extLst xmlns:a="http://schemas.openxmlformats.org/drawingml/2006/main">
              <a:ext uri="{FF2B5EF4-FFF2-40B4-BE49-F238E27FC236}">
                <a16:creationId xmlns:a16="http://schemas.microsoft.com/office/drawing/2014/main" id="{CFEF9DDD-D06A-4AEC-86D6-BBBB8FF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81475"/>
            <a:ext cx="24193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heme-accent-3">
            <a:extLst xmlns:a="http://schemas.openxmlformats.org/drawingml/2006/main">
              <a:ext uri="{FF2B5EF4-FFF2-40B4-BE49-F238E27FC236}">
                <a16:creationId xmlns:a16="http://schemas.microsoft.com/office/drawing/2014/main" id="{BA669C37-52BE-4D90-81BF-F4E9A49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81475"/>
            <a:ext cx="13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heme-label-3">
            <a:extLst xmlns:a="http://schemas.openxmlformats.org/drawingml/2006/main">
              <a:ext uri="{FF2B5EF4-FFF2-40B4-BE49-F238E27FC236}">
                <a16:creationId xmlns:a16="http://schemas.microsoft.com/office/drawing/2014/main" id="{4E86A9A6-BB66-458A-9E2A-2545228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957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Bold</a:t>
            </a:r>
          </a:p>
        </p:txBody>
      </p:sp>
      <p:sp>
        <p:nvSpPr>
          <p:cNvPr id="26" name="theme-4">
            <a:extLst xmlns:a="http://schemas.openxmlformats.org/drawingml/2006/main">
              <a:ext uri="{FF2B5EF4-FFF2-40B4-BE49-F238E27FC236}">
                <a16:creationId xmlns:a16="http://schemas.microsoft.com/office/drawing/2014/main" id="{E237C682-49A8-4DC8-A449-8D16245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4193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heme-accent-4">
            <a:extLst xmlns:a="http://schemas.openxmlformats.org/drawingml/2006/main">
              <a:ext uri="{FF2B5EF4-FFF2-40B4-BE49-F238E27FC236}">
                <a16:creationId xmlns:a16="http://schemas.microsoft.com/office/drawing/2014/main" id="{875A329D-95EC-4062-886F-17A3791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3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heme-label-4">
            <a:extLst xmlns:a="http://schemas.openxmlformats.org/drawingml/2006/main">
              <a:ext uri="{FF2B5EF4-FFF2-40B4-BE49-F238E27FC236}">
                <a16:creationId xmlns:a16="http://schemas.microsoft.com/office/drawing/2014/main" id="{8DF08051-CE8E-408F-9EB8-598DB593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434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Sleek</a:t>
            </a:r>
          </a:p>
        </p:txBody>
      </p:sp>
    </p:spTree>
    <p:extLst>
      <p:ext uri="{BB962C8B-B14F-4D97-AF65-F5344CB8AC3E}">
        <p14:creationId xmlns:p14="http://schemas.microsoft.com/office/powerpoint/2010/main" val="1924626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11">
            <a:extLst xmlns:a="http://schemas.openxmlformats.org/drawingml/2006/main">
              <a:ext uri="{FF2B5EF4-FFF2-40B4-BE49-F238E27FC236}">
                <a16:creationId xmlns:a16="http://schemas.microsoft.com/office/drawing/2014/main" id="{864B86D5-85F5-48B4-9DDD-E9271CA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A60A470-5A60-4D28-8172-42443704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Стек разделён по ответственности: интерфейс, аудио, ИИ и хранение</a:t>
            </a:r>
          </a:p>
        </p:txBody>
      </p:sp>
      <p:sp>
        <p:nvSpPr>
          <p:cNvPr id="3" name="top-rule-11">
            <a:extLst xmlns:a="http://schemas.openxmlformats.org/drawingml/2006/main">
              <a:ext uri="{FF2B5EF4-FFF2-40B4-BE49-F238E27FC236}">
                <a16:creationId xmlns:a16="http://schemas.microsoft.com/office/drawing/2014/main" id="{7E9B0B0A-824E-408C-B58C-7C477C6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572E5898-8F12-4065-B81C-3E1023F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stack-0">
            <a:extLst xmlns:a="http://schemas.openxmlformats.org/drawingml/2006/main">
              <a:ext uri="{FF2B5EF4-FFF2-40B4-BE49-F238E27FC236}">
                <a16:creationId xmlns:a16="http://schemas.microsoft.com/office/drawing/2014/main" id="{38642F98-8B21-44B3-BB1B-0D61A4C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tack-h-0">
            <a:extLst xmlns:a="http://schemas.openxmlformats.org/drawingml/2006/main">
              <a:ext uri="{FF2B5EF4-FFF2-40B4-BE49-F238E27FC236}">
                <a16:creationId xmlns:a16="http://schemas.microsoft.com/office/drawing/2014/main" id="{DB064770-2F43-4DF4-A3AE-D46AAA5F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PySide6</a:t>
            </a:r>
          </a:p>
        </p:txBody>
      </p:sp>
      <p:sp>
        <p:nvSpPr>
          <p:cNvPr id="7" name="stack-b-0">
            <a:extLst xmlns:a="http://schemas.openxmlformats.org/drawingml/2006/main">
              <a:ext uri="{FF2B5EF4-FFF2-40B4-BE49-F238E27FC236}">
                <a16:creationId xmlns:a16="http://schemas.microsoft.com/office/drawing/2014/main" id="{E59C1E68-D2CB-4F5A-96AA-D484D85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окна, таблица реплик, настройки, темы</a:t>
            </a:r>
          </a:p>
        </p:txBody>
      </p:sp>
      <p:sp>
        <p:nvSpPr>
          <p:cNvPr id="8" name="stack-1">
            <a:extLst xmlns:a="http://schemas.openxmlformats.org/drawingml/2006/main">
              <a:ext uri="{FF2B5EF4-FFF2-40B4-BE49-F238E27FC236}">
                <a16:creationId xmlns:a16="http://schemas.microsoft.com/office/drawing/2014/main" id="{F0807A4B-465A-4C78-85AC-F957590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103251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ack-h-1">
            <a:extLst xmlns:a="http://schemas.openxmlformats.org/drawingml/2006/main">
              <a:ext uri="{FF2B5EF4-FFF2-40B4-BE49-F238E27FC236}">
                <a16:creationId xmlns:a16="http://schemas.microsoft.com/office/drawing/2014/main" id="{A07232C5-E579-4798-A84A-1DC58ED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SoundCard + WASAPI</a:t>
            </a:r>
          </a:p>
        </p:txBody>
      </p:sp>
      <p:sp>
        <p:nvSpPr>
          <p:cNvPr id="10" name="stack-b-1">
            <a:extLst xmlns:a="http://schemas.openxmlformats.org/drawingml/2006/main">
              <a:ext uri="{FF2B5EF4-FFF2-40B4-BE49-F238E27FC236}">
                <a16:creationId xmlns:a16="http://schemas.microsoft.com/office/drawing/2014/main" id="{81F68ABD-58F9-4419-95B2-F2652DD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661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микрофон и loopback-захват звука Windows</a:t>
            </a:r>
          </a:p>
        </p:txBody>
      </p:sp>
      <p:sp>
        <p:nvSpPr>
          <p:cNvPr id="11" name="stack-2">
            <a:extLst xmlns:a="http://schemas.openxmlformats.org/drawingml/2006/main">
              <a:ext uri="{FF2B5EF4-FFF2-40B4-BE49-F238E27FC236}">
                <a16:creationId xmlns:a16="http://schemas.microsoft.com/office/drawing/2014/main" id="{B8C502AB-7A7F-4EBD-B6F6-198C9B9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99822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A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tack-h-2">
            <a:extLst xmlns:a="http://schemas.openxmlformats.org/drawingml/2006/main">
              <a:ext uri="{FF2B5EF4-FFF2-40B4-BE49-F238E27FC236}">
                <a16:creationId xmlns:a16="http://schemas.microsoft.com/office/drawing/2014/main" id="{4B99F55C-563C-4420-B51B-F79CB7C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faster-whisper</a:t>
            </a:r>
          </a:p>
        </p:txBody>
      </p:sp>
      <p:sp>
        <p:nvSpPr>
          <p:cNvPr id="13" name="stack-b-2">
            <a:extLst xmlns:a="http://schemas.openxmlformats.org/drawingml/2006/main">
              <a:ext uri="{FF2B5EF4-FFF2-40B4-BE49-F238E27FC236}">
                <a16:creationId xmlns:a16="http://schemas.microsoft.com/office/drawing/2014/main" id="{E81EFD73-83CD-462B-8DA1-5E4DFFE1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638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локальное распознавание и пакетное уточнение</a:t>
            </a:r>
          </a:p>
        </p:txBody>
      </p:sp>
      <p:sp>
        <p:nvSpPr>
          <p:cNvPr id="14" name="stack-3">
            <a:extLst xmlns:a="http://schemas.openxmlformats.org/drawingml/2006/main">
              <a:ext uri="{FF2B5EF4-FFF2-40B4-BE49-F238E27FC236}">
                <a16:creationId xmlns:a16="http://schemas.microsoft.com/office/drawing/2014/main" id="{4A65C1E7-8BE0-41F1-89DD-F2148F6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96393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ack-h-3">
            <a:extLst xmlns:a="http://schemas.openxmlformats.org/drawingml/2006/main">
              <a:ext uri="{FF2B5EF4-FFF2-40B4-BE49-F238E27FC236}">
                <a16:creationId xmlns:a16="http://schemas.microsoft.com/office/drawing/2014/main" id="{ECD712FF-6202-46D5-B3C7-AC90EA16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SpeechBrain + PyTorch</a:t>
            </a:r>
          </a:p>
        </p:txBody>
      </p:sp>
      <p:sp>
        <p:nvSpPr>
          <p:cNvPr id="16" name="stack-b-3">
            <a:extLst xmlns:a="http://schemas.openxmlformats.org/drawingml/2006/main">
              <a:ext uri="{FF2B5EF4-FFF2-40B4-BE49-F238E27FC236}">
                <a16:creationId xmlns:a16="http://schemas.microsoft.com/office/drawing/2014/main" id="{AAE84470-CF30-486F-9762-143E1869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614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голосовые эмбеддинги и кластеризация</a:t>
            </a:r>
          </a:p>
        </p:txBody>
      </p:sp>
      <p:sp>
        <p:nvSpPr>
          <p:cNvPr id="17" name="stack-4">
            <a:extLst xmlns:a="http://schemas.openxmlformats.org/drawingml/2006/main">
              <a:ext uri="{FF2B5EF4-FFF2-40B4-BE49-F238E27FC236}">
                <a16:creationId xmlns:a16="http://schemas.microsoft.com/office/drawing/2014/main" id="{534721C5-2C0B-4E1E-A69B-F1B46F0B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81475"/>
            <a:ext cx="92964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tack-h-4">
            <a:extLst xmlns:a="http://schemas.openxmlformats.org/drawingml/2006/main">
              <a:ext uri="{FF2B5EF4-FFF2-40B4-BE49-F238E27FC236}">
                <a16:creationId xmlns:a16="http://schemas.microsoft.com/office/drawing/2014/main" id="{0786A862-BE54-4591-AFBF-BA98FF5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NumPy / SciPy</a:t>
            </a:r>
          </a:p>
        </p:txBody>
      </p:sp>
      <p:sp>
        <p:nvSpPr>
          <p:cNvPr id="19" name="stack-b-4">
            <a:extLst xmlns:a="http://schemas.openxmlformats.org/drawingml/2006/main">
              <a:ext uri="{FF2B5EF4-FFF2-40B4-BE49-F238E27FC236}">
                <a16:creationId xmlns:a16="http://schemas.microsoft.com/office/drawing/2014/main" id="{D08AF5D0-D808-4645-9D32-61578F9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аудиомассивы, ресемплинг и численные операции</a:t>
            </a:r>
          </a:p>
        </p:txBody>
      </p:sp>
      <p:sp>
        <p:nvSpPr>
          <p:cNvPr id="20" name="stack-5">
            <a:extLst xmlns:a="http://schemas.openxmlformats.org/drawingml/2006/main">
              <a:ext uri="{FF2B5EF4-FFF2-40B4-BE49-F238E27FC236}">
                <a16:creationId xmlns:a16="http://schemas.microsoft.com/office/drawing/2014/main" id="{58FAB76F-DF16-4A84-94AD-9C6F7C7F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0125"/>
            <a:ext cx="8953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ack-h-5">
            <a:extLst xmlns:a="http://schemas.openxmlformats.org/drawingml/2006/main">
              <a:ext uri="{FF2B5EF4-FFF2-40B4-BE49-F238E27FC236}">
                <a16:creationId xmlns:a16="http://schemas.microsoft.com/office/drawing/2014/main" id="{EEA6C711-97BF-48FE-B6C5-C923CDC2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python-docx + stdlib</a:t>
            </a:r>
          </a:p>
        </p:txBody>
      </p:sp>
      <p:sp>
        <p:nvSpPr>
          <p:cNvPr id="22" name="stack-b-5">
            <a:extLst xmlns:a="http://schemas.openxmlformats.org/drawingml/2006/main">
              <a:ext uri="{FF2B5EF4-FFF2-40B4-BE49-F238E27FC236}">
                <a16:creationId xmlns:a16="http://schemas.microsoft.com/office/drawing/2014/main" id="{D4DA33BD-8722-4567-B6E6-989C82E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566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экспорт, JSON, SRT, WAV и конфигурация</a:t>
            </a:r>
          </a:p>
        </p:txBody>
      </p:sp>
      <p:sp>
        <p:nvSpPr>
          <p:cNvPr id="23" name="stack-build">
            <a:extLst xmlns:a="http://schemas.openxmlformats.org/drawingml/2006/main">
              <a:ext uri="{FF2B5EF4-FFF2-40B4-BE49-F238E27FC236}">
                <a16:creationId xmlns:a16="http://schemas.microsoft.com/office/drawing/2014/main" id="{F3BDED08-F3BB-4EB6-9E37-2E55603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Сборка Windows: PyInstaller → dist\CoreTranscriber</a:t>
            </a:r>
          </a:p>
        </p:txBody>
      </p:sp>
    </p:spTree>
    <p:extLst>
      <p:ext uri="{BB962C8B-B14F-4D97-AF65-F5344CB8AC3E}">
        <p14:creationId xmlns:p14="http://schemas.microsoft.com/office/powerpoint/2010/main" val="1966119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2">
            <a:extLst xmlns:a="http://schemas.openxmlformats.org/drawingml/2006/main">
              <a:ext uri="{FF2B5EF4-FFF2-40B4-BE49-F238E27FC236}">
                <a16:creationId xmlns:a16="http://schemas.microsoft.com/office/drawing/2014/main" id="{1C8977FC-81D6-4785-A359-6017410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3048619E-68A4-4CE6-AD83-F5DF7AE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Надёжность заложена в поведение при сбоях и закреплена тестами</a:t>
            </a:r>
          </a:p>
        </p:txBody>
      </p:sp>
      <p:sp>
        <p:nvSpPr>
          <p:cNvPr id="3" name="top-rule-12">
            <a:extLst xmlns:a="http://schemas.openxmlformats.org/drawingml/2006/main">
              <a:ext uri="{FF2B5EF4-FFF2-40B4-BE49-F238E27FC236}">
                <a16:creationId xmlns:a16="http://schemas.microsoft.com/office/drawing/2014/main" id="{042A00E1-D6FF-4542-AE88-0E873770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0E64997E-883E-429F-8449-74F08D3B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st-number">
            <a:extLst xmlns:a="http://schemas.openxmlformats.org/drawingml/2006/main">
              <a:ext uri="{FF2B5EF4-FFF2-40B4-BE49-F238E27FC236}">
                <a16:creationId xmlns:a16="http://schemas.microsoft.com/office/drawing/2014/main" id="{3EA4A501-9B08-42D7-8406-7D478D6E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test-label">
            <a:extLst xmlns:a="http://schemas.openxmlformats.org/drawingml/2006/main">
              <a:ext uri="{FF2B5EF4-FFF2-40B4-BE49-F238E27FC236}">
                <a16:creationId xmlns:a16="http://schemas.microsoft.com/office/drawing/2014/main" id="{32C986B3-2411-422C-8F9F-51522EB6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335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тестовых сценариев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 10 модулях</a:t>
            </a:r>
          </a:p>
        </p:txBody>
      </p:sp>
      <p:sp>
        <p:nvSpPr>
          <p:cNvPr id="7" name="test-rule">
            <a:extLst xmlns:a="http://schemas.openxmlformats.org/drawingml/2006/main">
              <a:ext uri="{FF2B5EF4-FFF2-40B4-BE49-F238E27FC236}">
                <a16:creationId xmlns:a16="http://schemas.microsoft.com/office/drawing/2014/main" id="{9F2B79A9-20F6-4A20-90DC-755A6F27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st-areas">
            <a:extLst xmlns:a="http://schemas.openxmlformats.org/drawingml/2006/main">
              <a:ext uri="{FF2B5EF4-FFF2-40B4-BE49-F238E27FC236}">
                <a16:creationId xmlns:a16="http://schemas.microsoft.com/office/drawing/2014/main" id="{A4F21A2D-F2C7-4864-98A8-CB2E6C68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Аудио • конфигурация • диаризация • словари • конвейер • хранение • темы • редактор • runtime • Whisper</a:t>
            </a:r>
          </a:p>
        </p:txBody>
      </p:sp>
      <p:sp>
        <p:nvSpPr>
          <p:cNvPr id="9" name="g-0">
            <a:extLst xmlns:a="http://schemas.openxmlformats.org/drawingml/2006/main">
              <a:ext uri="{FF2B5EF4-FFF2-40B4-BE49-F238E27FC236}">
                <a16:creationId xmlns:a16="http://schemas.microsoft.com/office/drawing/2014/main" id="{EC5B8D24-05FB-4E7E-81CD-5F04D1D0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476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-h-0">
            <a:extLst xmlns:a="http://schemas.openxmlformats.org/drawingml/2006/main">
              <a:ext uri="{FF2B5EF4-FFF2-40B4-BE49-F238E27FC236}">
                <a16:creationId xmlns:a16="http://schemas.microsoft.com/office/drawing/2014/main" id="{2D226DE0-A1F7-4A4C-A597-6E3CFCEA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Аудио-first</a:t>
            </a:r>
          </a:p>
        </p:txBody>
      </p:sp>
      <p:sp>
        <p:nvSpPr>
          <p:cNvPr id="11" name="g-b-0">
            <a:extLst xmlns:a="http://schemas.openxmlformats.org/drawingml/2006/main">
              <a:ext uri="{FF2B5EF4-FFF2-40B4-BE49-F238E27FC236}">
                <a16:creationId xmlns:a16="http://schemas.microsoft.com/office/drawing/2014/main" id="{C27E2870-055D-44A9-BD1E-00E8504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запись на диск до ASR</a:t>
            </a:r>
          </a:p>
        </p:txBody>
      </p:sp>
      <p:sp>
        <p:nvSpPr>
          <p:cNvPr id="12" name="g-1">
            <a:extLst xmlns:a="http://schemas.openxmlformats.org/drawingml/2006/main">
              <a:ext uri="{FF2B5EF4-FFF2-40B4-BE49-F238E27FC236}">
                <a16:creationId xmlns:a16="http://schemas.microsoft.com/office/drawing/2014/main" id="{571163A5-B0A7-4530-9D43-4A04778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476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-h-1">
            <a:extLst xmlns:a="http://schemas.openxmlformats.org/drawingml/2006/main">
              <a:ext uri="{FF2B5EF4-FFF2-40B4-BE49-F238E27FC236}">
                <a16:creationId xmlns:a16="http://schemas.microsoft.com/office/drawing/2014/main" id="{94B023F6-80B9-4F9A-9FC4-4A49B0F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Graceful fallback</a:t>
            </a:r>
          </a:p>
        </p:txBody>
      </p:sp>
      <p:sp>
        <p:nvSpPr>
          <p:cNvPr id="14" name="g-b-1">
            <a:extLst xmlns:a="http://schemas.openxmlformats.org/drawingml/2006/main">
              <a:ext uri="{FF2B5EF4-FFF2-40B4-BE49-F238E27FC236}">
                <a16:creationId xmlns:a16="http://schemas.microsoft.com/office/drawing/2014/main" id="{00A286D4-BEC6-4B6D-B8C1-7643177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живой текст не заменяется при ошибке</a:t>
            </a:r>
          </a:p>
        </p:txBody>
      </p:sp>
      <p:sp>
        <p:nvSpPr>
          <p:cNvPr id="15" name="g-2">
            <a:extLst xmlns:a="http://schemas.openxmlformats.org/drawingml/2006/main">
              <a:ext uri="{FF2B5EF4-FFF2-40B4-BE49-F238E27FC236}">
                <a16:creationId xmlns:a16="http://schemas.microsoft.com/office/drawing/2014/main" id="{273D675F-7AF3-4BF5-A920-006B81A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2476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-h-2">
            <a:extLst xmlns:a="http://schemas.openxmlformats.org/drawingml/2006/main">
              <a:ext uri="{FF2B5EF4-FFF2-40B4-BE49-F238E27FC236}">
                <a16:creationId xmlns:a16="http://schemas.microsoft.com/office/drawing/2014/main" id="{8D1CCC3D-264A-4635-A756-EC73EC53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Повторные попытки</a:t>
            </a:r>
          </a:p>
        </p:txBody>
      </p:sp>
      <p:sp>
        <p:nvSpPr>
          <p:cNvPr id="17" name="g-b-2">
            <a:extLst xmlns:a="http://schemas.openxmlformats.org/drawingml/2006/main">
              <a:ext uri="{FF2B5EF4-FFF2-40B4-BE49-F238E27FC236}">
                <a16:creationId xmlns:a16="http://schemas.microsoft.com/office/drawing/2014/main" id="{25D93B0A-0CFD-4C77-B1F2-432C9E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диаризация восстанавливается после временного сбоя</a:t>
            </a:r>
          </a:p>
        </p:txBody>
      </p:sp>
      <p:sp>
        <p:nvSpPr>
          <p:cNvPr id="18" name="g-3">
            <a:extLst xmlns:a="http://schemas.openxmlformats.org/drawingml/2006/main">
              <a:ext uri="{FF2B5EF4-FFF2-40B4-BE49-F238E27FC236}">
                <a16:creationId xmlns:a16="http://schemas.microsoft.com/office/drawing/2014/main" id="{AA666914-A4BF-4B99-A66E-3B7D130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76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-h-3">
            <a:extLst xmlns:a="http://schemas.openxmlformats.org/drawingml/2006/main">
              <a:ext uri="{FF2B5EF4-FFF2-40B4-BE49-F238E27FC236}">
                <a16:creationId xmlns:a16="http://schemas.microsoft.com/office/drawing/2014/main" id="{DFE5C570-9DCB-45E2-9B3F-02589775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20" name="g-b-3">
            <a:extLst xmlns:a="http://schemas.openxmlformats.org/drawingml/2006/main">
              <a:ext uri="{FF2B5EF4-FFF2-40B4-BE49-F238E27FC236}">
                <a16:creationId xmlns:a16="http://schemas.microsoft.com/office/drawing/2014/main" id="{AFB5556E-DF3D-4033-A097-BA69F70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0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ошибки моделей сохраняются в логах</a:t>
            </a:r>
          </a:p>
        </p:txBody>
      </p:sp>
      <p:sp>
        <p:nvSpPr>
          <p:cNvPr id="21" name="test-note">
            <a:extLst xmlns:a="http://schemas.openxmlformats.org/drawingml/2006/main">
              <a:ext uri="{FF2B5EF4-FFF2-40B4-BE49-F238E27FC236}">
                <a16:creationId xmlns:a16="http://schemas.microsoft.com/office/drawing/2014/main" id="{37328C2F-BFB0-4B51-9ED3-1D230124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Тесты в репозитории проверяют ключевые инварианты, а не только элементы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1071543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13">
            <a:extLst xmlns:a="http://schemas.openxmlformats.org/drawingml/2006/main">
              <a:ext uri="{FF2B5EF4-FFF2-40B4-BE49-F238E27FC236}">
                <a16:creationId xmlns:a16="http://schemas.microsoft.com/office/drawing/2014/main" id="{5D1D7B0C-3480-4375-B9FE-F2226B7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CORETRANSCRIBER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12FD8E27-FB72-4B2C-A494-BFA2B4DF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Демонстрация должна показать полный цикл на коротком фрагменте разговора</a:t>
            </a:r>
          </a:p>
        </p:txBody>
      </p:sp>
      <p:sp>
        <p:nvSpPr>
          <p:cNvPr id="3" name="top-rule-13">
            <a:extLst xmlns:a="http://schemas.openxmlformats.org/drawingml/2006/main">
              <a:ext uri="{FF2B5EF4-FFF2-40B4-BE49-F238E27FC236}">
                <a16:creationId xmlns:a16="http://schemas.microsoft.com/office/drawing/2014/main" id="{C40311BE-5932-4E7A-8896-1AA250A3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B61EBF56-4595-4338-B9AE-59AA839B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demo-n-0">
            <a:extLst xmlns:a="http://schemas.openxmlformats.org/drawingml/2006/main">
              <a:ext uri="{FF2B5EF4-FFF2-40B4-BE49-F238E27FC236}">
                <a16:creationId xmlns:a16="http://schemas.microsoft.com/office/drawing/2014/main" id="{BE238BC9-85E4-4279-96F1-A73ED31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emo-rule-0">
            <a:extLst xmlns:a="http://schemas.openxmlformats.org/drawingml/2006/main">
              <a:ext uri="{FF2B5EF4-FFF2-40B4-BE49-F238E27FC236}">
                <a16:creationId xmlns:a16="http://schemas.microsoft.com/office/drawing/2014/main" id="{FFA89446-1EE6-471A-B30B-96989483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demo-h-0">
            <a:extLst xmlns:a="http://schemas.openxmlformats.org/drawingml/2006/main">
              <a:ext uri="{FF2B5EF4-FFF2-40B4-BE49-F238E27FC236}">
                <a16:creationId xmlns:a16="http://schemas.microsoft.com/office/drawing/2014/main" id="{4F81C25C-D0B0-45E8-BCDA-19416B28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Подготовить</a:t>
            </a:r>
          </a:p>
        </p:txBody>
      </p:sp>
      <p:sp>
        <p:nvSpPr>
          <p:cNvPr id="8" name="demo-b-0">
            <a:extLst xmlns:a="http://schemas.openxmlformats.org/drawingml/2006/main">
              <a:ext uri="{FF2B5EF4-FFF2-40B4-BE49-F238E27FC236}">
                <a16:creationId xmlns:a16="http://schemas.microsoft.com/office/drawing/2014/main" id="{BE332357-BE78-441E-BC86-2206C86B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выбрать микрофон, вывод звука и словарь</a:t>
            </a:r>
          </a:p>
        </p:txBody>
      </p:sp>
      <p:sp>
        <p:nvSpPr>
          <p:cNvPr id="9" name="demo-n-1">
            <a:extLst xmlns:a="http://schemas.openxmlformats.org/drawingml/2006/main">
              <a:ext uri="{FF2B5EF4-FFF2-40B4-BE49-F238E27FC236}">
                <a16:creationId xmlns:a16="http://schemas.microsoft.com/office/drawing/2014/main" id="{7A074164-9638-4B3E-B89C-FEDC7F63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demo-rule-1">
            <a:extLst xmlns:a="http://schemas.openxmlformats.org/drawingml/2006/main">
              <a:ext uri="{FF2B5EF4-FFF2-40B4-BE49-F238E27FC236}">
                <a16:creationId xmlns:a16="http://schemas.microsoft.com/office/drawing/2014/main" id="{BF526820-BA68-40E1-8AE5-B7547A80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764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demo-h-1">
            <a:extLst xmlns:a="http://schemas.openxmlformats.org/drawingml/2006/main">
              <a:ext uri="{FF2B5EF4-FFF2-40B4-BE49-F238E27FC236}">
                <a16:creationId xmlns:a16="http://schemas.microsoft.com/office/drawing/2014/main" id="{E5EDCC97-7D40-4A78-AE2C-CC857C3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38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Записать</a:t>
            </a:r>
          </a:p>
        </p:txBody>
      </p:sp>
      <p:sp>
        <p:nvSpPr>
          <p:cNvPr id="12" name="demo-b-1">
            <a:extLst xmlns:a="http://schemas.openxmlformats.org/drawingml/2006/main">
              <a:ext uri="{FF2B5EF4-FFF2-40B4-BE49-F238E27FC236}">
                <a16:creationId xmlns:a16="http://schemas.microsoft.com/office/drawing/2014/main" id="{6A5C4966-3D1A-4D35-B5BA-E4DF95AF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произнести фразу самому и воспроизвести удалённый голос</a:t>
            </a:r>
          </a:p>
        </p:txBody>
      </p:sp>
      <p:sp>
        <p:nvSpPr>
          <p:cNvPr id="13" name="demo-n-2">
            <a:extLst xmlns:a="http://schemas.openxmlformats.org/drawingml/2006/main">
              <a:ext uri="{FF2B5EF4-FFF2-40B4-BE49-F238E27FC236}">
                <a16:creationId xmlns:a16="http://schemas.microsoft.com/office/drawing/2014/main" id="{2606368A-FA7A-43DE-8EA7-7D46B24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demo-rule-2">
            <a:extLst xmlns:a="http://schemas.openxmlformats.org/drawingml/2006/main">
              <a:ext uri="{FF2B5EF4-FFF2-40B4-BE49-F238E27FC236}">
                <a16:creationId xmlns:a16="http://schemas.microsoft.com/office/drawing/2014/main" id="{3A5283F7-E008-4B82-9443-9F01C03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demo-h-2">
            <a:extLst xmlns:a="http://schemas.openxmlformats.org/drawingml/2006/main">
              <a:ext uri="{FF2B5EF4-FFF2-40B4-BE49-F238E27FC236}">
                <a16:creationId xmlns:a16="http://schemas.microsoft.com/office/drawing/2014/main" id="{2E08C713-3D51-484E-9192-0FD4594D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Показать live</a:t>
            </a:r>
          </a:p>
        </p:txBody>
      </p:sp>
      <p:sp>
        <p:nvSpPr>
          <p:cNvPr id="16" name="demo-b-2">
            <a:extLst xmlns:a="http://schemas.openxmlformats.org/drawingml/2006/main">
              <a:ext uri="{FF2B5EF4-FFF2-40B4-BE49-F238E27FC236}">
                <a16:creationId xmlns:a16="http://schemas.microsoft.com/office/drawing/2014/main" id="{68E7CAFE-9E7E-4FF1-B639-4B762F1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обратить внимание на роли, время и число реплик</a:t>
            </a:r>
          </a:p>
        </p:txBody>
      </p:sp>
      <p:sp>
        <p:nvSpPr>
          <p:cNvPr id="17" name="demo-n-3">
            <a:extLst xmlns:a="http://schemas.openxmlformats.org/drawingml/2006/main">
              <a:ext uri="{FF2B5EF4-FFF2-40B4-BE49-F238E27FC236}">
                <a16:creationId xmlns:a16="http://schemas.microsoft.com/office/drawing/2014/main" id="{CC5171FA-39FD-4D00-83D1-5D89437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demo-rule-3">
            <a:extLst xmlns:a="http://schemas.openxmlformats.org/drawingml/2006/main">
              <a:ext uri="{FF2B5EF4-FFF2-40B4-BE49-F238E27FC236}">
                <a16:creationId xmlns:a16="http://schemas.microsoft.com/office/drawing/2014/main" id="{C022A445-DC6A-430B-ACD7-B515761C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demo-h-3">
            <a:extLst xmlns:a="http://schemas.openxmlformats.org/drawingml/2006/main">
              <a:ext uri="{FF2B5EF4-FFF2-40B4-BE49-F238E27FC236}">
                <a16:creationId xmlns:a16="http://schemas.microsoft.com/office/drawing/2014/main" id="{6B7202ED-73E9-485C-ADDA-391572DA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20" name="demo-b-3">
            <a:extLst xmlns:a="http://schemas.openxmlformats.org/drawingml/2006/main">
              <a:ext uri="{FF2B5EF4-FFF2-40B4-BE49-F238E27FC236}">
                <a16:creationId xmlns:a16="http://schemas.microsoft.com/office/drawing/2014/main" id="{30BCF565-9B4B-4138-A782-36C8BE1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переименовать собеседника и изменить текст строки</a:t>
            </a:r>
          </a:p>
        </p:txBody>
      </p:sp>
      <p:sp>
        <p:nvSpPr>
          <p:cNvPr id="21" name="demo-n-4">
            <a:extLst xmlns:a="http://schemas.openxmlformats.org/drawingml/2006/main">
              <a:ext uri="{FF2B5EF4-FFF2-40B4-BE49-F238E27FC236}">
                <a16:creationId xmlns:a16="http://schemas.microsoft.com/office/drawing/2014/main" id="{5DB62E06-5751-4EBE-9BDF-CD088638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demo-rule-4">
            <a:extLst xmlns:a="http://schemas.openxmlformats.org/drawingml/2006/main">
              <a:ext uri="{FF2B5EF4-FFF2-40B4-BE49-F238E27FC236}">
                <a16:creationId xmlns:a16="http://schemas.microsoft.com/office/drawing/2014/main" id="{A144C3CB-1CF8-4CD6-BADD-AA3C63DA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86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demo-h-4">
            <a:extLst xmlns:a="http://schemas.openxmlformats.org/drawingml/2006/main">
              <a:ext uri="{FF2B5EF4-FFF2-40B4-BE49-F238E27FC236}">
                <a16:creationId xmlns:a16="http://schemas.microsoft.com/office/drawing/2014/main" id="{5FA00B9F-CC3C-48CC-87AC-DDCC0A26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Остановить</a:t>
            </a:r>
          </a:p>
        </p:txBody>
      </p:sp>
      <p:sp>
        <p:nvSpPr>
          <p:cNvPr id="24" name="demo-b-4">
            <a:extLst xmlns:a="http://schemas.openxmlformats.org/drawingml/2006/main">
              <a:ext uri="{FF2B5EF4-FFF2-40B4-BE49-F238E27FC236}">
                <a16:creationId xmlns:a16="http://schemas.microsoft.com/office/drawing/2014/main" id="{96071F3C-03B3-439F-B684-A0FF6A7F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76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пояснить итоговое уточнение и возможность отмены</a:t>
            </a:r>
          </a:p>
        </p:txBody>
      </p:sp>
      <p:sp>
        <p:nvSpPr>
          <p:cNvPr id="25" name="demo-n-5">
            <a:extLst xmlns:a="http://schemas.openxmlformats.org/drawingml/2006/main">
              <a:ext uri="{FF2B5EF4-FFF2-40B4-BE49-F238E27FC236}">
                <a16:creationId xmlns:a16="http://schemas.microsoft.com/office/drawing/2014/main" id="{39690891-BD35-45F7-8494-6E04089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demo-rule-5">
            <a:extLst xmlns:a="http://schemas.openxmlformats.org/drawingml/2006/main">
              <a:ext uri="{FF2B5EF4-FFF2-40B4-BE49-F238E27FC236}">
                <a16:creationId xmlns:a16="http://schemas.microsoft.com/office/drawing/2014/main" id="{15B1F90C-8A08-4AF4-81A9-DB6A09ED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demo-h-5">
            <a:extLst xmlns:a="http://schemas.openxmlformats.org/drawingml/2006/main">
              <a:ext uri="{FF2B5EF4-FFF2-40B4-BE49-F238E27FC236}">
                <a16:creationId xmlns:a16="http://schemas.microsoft.com/office/drawing/2014/main" id="{C1A88C23-20C7-4011-AFE2-9A819239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Открыть папку</a:t>
            </a:r>
          </a:p>
        </p:txBody>
      </p:sp>
      <p:sp>
        <p:nvSpPr>
          <p:cNvPr id="28" name="demo-b-5">
            <a:extLst xmlns:a="http://schemas.openxmlformats.org/drawingml/2006/main">
              <a:ext uri="{FF2B5EF4-FFF2-40B4-BE49-F238E27FC236}">
                <a16:creationId xmlns:a16="http://schemas.microsoft.com/office/drawing/2014/main" id="{47DB7E25-C8D4-48AE-8488-6CA4F23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показать две WAV-дорожки и экспортные файлы</a:t>
            </a:r>
          </a:p>
        </p:txBody>
      </p:sp>
      <p:sp>
        <p:nvSpPr>
          <p:cNvPr id="29" name="demo-safe">
            <a:extLst xmlns:a="http://schemas.openxmlformats.org/drawingml/2006/main">
              <a:ext uri="{FF2B5EF4-FFF2-40B4-BE49-F238E27FC236}">
                <a16:creationId xmlns:a16="http://schemas.microsoft.com/office/drawing/2014/main" id="{2412B13D-CCB1-4D7A-8614-EB8EC227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5D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F5D72"/>
                </a:solidFill>
                <a:latin typeface="Arial"/>
                <a:ea typeface="Arial"/>
                <a:cs typeface="Arial"/>
              </a:rPr>
              <a:t>Безопасный вариант для защиты: заранее подготовить модели и иметь сохранённую папку встречи как резерв.</a:t>
            </a:r>
          </a:p>
        </p:txBody>
      </p:sp>
    </p:spTree>
    <p:extLst>
      <p:ext uri="{BB962C8B-B14F-4D97-AF65-F5344CB8AC3E}">
        <p14:creationId xmlns:p14="http://schemas.microsoft.com/office/powerpoint/2010/main" val="309130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F83F7E71-FAD8-465B-93C2-83C021D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452B471-2A3F-4342-B55D-92129AE2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28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6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CoreTranscriber сохраняет не только слова, но и структуру встречи</a:t>
            </a:r>
          </a:p>
        </p:txBody>
      </p:sp>
      <p:sp>
        <p:nvSpPr>
          <p:cNvPr id="3" name="close-h-0">
            <a:extLst xmlns:a="http://schemas.openxmlformats.org/drawingml/2006/main">
              <a:ext uri="{FF2B5EF4-FFF2-40B4-BE49-F238E27FC236}">
                <a16:creationId xmlns:a16="http://schemas.microsoft.com/office/drawing/2014/main" id="{EE85BB7A-6B13-4E35-A21B-86EF2C3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4" name="close-line-0">
            <a:extLst xmlns:a="http://schemas.openxmlformats.org/drawingml/2006/main">
              <a:ext uri="{FF2B5EF4-FFF2-40B4-BE49-F238E27FC236}">
                <a16:creationId xmlns:a16="http://schemas.microsoft.com/office/drawing/2014/main" id="{36252D37-C9E3-4C0A-AB1A-7A379EA9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lose-b-0">
            <a:extLst xmlns:a="http://schemas.openxmlformats.org/drawingml/2006/main">
              <a:ext uri="{FF2B5EF4-FFF2-40B4-BE49-F238E27FC236}">
                <a16:creationId xmlns:a16="http://schemas.microsoft.com/office/drawing/2014/main" id="{459C6AC9-6CC7-4318-8C5C-77E5678B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без платного API и передачи содержимого встречи в облако</a:t>
            </a:r>
          </a:p>
        </p:txBody>
      </p:sp>
      <p:sp>
        <p:nvSpPr>
          <p:cNvPr id="6" name="close-h-1">
            <a:extLst xmlns:a="http://schemas.openxmlformats.org/drawingml/2006/main">
              <a:ext uri="{FF2B5EF4-FFF2-40B4-BE49-F238E27FC236}">
                <a16:creationId xmlns:a16="http://schemas.microsoft.com/office/drawing/2014/main" id="{718142D1-AB16-4D79-8348-7787F8D5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38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Понятно</a:t>
            </a:r>
          </a:p>
        </p:txBody>
      </p:sp>
      <p:sp>
        <p:nvSpPr>
          <p:cNvPr id="7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7B17FF06-7281-4BF7-9A34-C5C8E9A9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62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lose-b-1">
            <a:extLst xmlns:a="http://schemas.openxmlformats.org/drawingml/2006/main">
              <a:ext uri="{FF2B5EF4-FFF2-40B4-BE49-F238E27FC236}">
                <a16:creationId xmlns:a16="http://schemas.microsoft.com/office/drawing/2014/main" id="{0913D824-CC97-4E30-9AA8-447C32FE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две аудиодорожки, роли, таймкоды и редактируемые реплики</a:t>
            </a:r>
          </a:p>
        </p:txBody>
      </p:sp>
      <p:sp>
        <p:nvSpPr>
          <p:cNvPr id="9" name="close-h-2">
            <a:extLst xmlns:a="http://schemas.openxmlformats.org/drawingml/2006/main">
              <a:ext uri="{FF2B5EF4-FFF2-40B4-BE49-F238E27FC236}">
                <a16:creationId xmlns:a16="http://schemas.microsoft.com/office/drawing/2014/main" id="{444EF5B4-AE15-4BAD-97CC-B2704024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Устойчиво</a:t>
            </a:r>
          </a:p>
        </p:txBody>
      </p:sp>
      <p:sp>
        <p:nvSpPr>
          <p:cNvPr id="10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7FF98A67-C8CE-42C3-813B-E1383F2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62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lose-b-2">
            <a:extLst xmlns:a="http://schemas.openxmlformats.org/drawingml/2006/main">
              <a:ext uri="{FF2B5EF4-FFF2-40B4-BE49-F238E27FC236}">
                <a16:creationId xmlns:a16="http://schemas.microsoft.com/office/drawing/2014/main" id="{1E6C0027-19FA-47E3-B7D8-1FC7BA3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аудио-first, очередь без потерь и безопасное итоговое уточнение</a:t>
            </a:r>
          </a:p>
        </p:txBody>
      </p:sp>
      <p:sp>
        <p:nvSpPr>
          <p:cNvPr id="12" name="close-link-box">
            <a:extLst xmlns:a="http://schemas.openxmlformats.org/drawingml/2006/main">
              <a:ext uri="{FF2B5EF4-FFF2-40B4-BE49-F238E27FC236}">
                <a16:creationId xmlns:a16="http://schemas.microsoft.com/office/drawing/2014/main" id="{8FEFFB21-7B12-4E53-A2F7-96C657A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link">
            <a:extLst xmlns:a="http://schemas.openxmlformats.org/drawingml/2006/main">
              <a:ext uri="{FF2B5EF4-FFF2-40B4-BE49-F238E27FC236}">
                <a16:creationId xmlns:a16="http://schemas.microsoft.com/office/drawing/2014/main" id="{B32F54DC-3B5C-4151-8F7A-EFC3851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github.com/10fbb/CoreTranscriber</a:t>
            </a:r>
          </a:p>
        </p:txBody>
      </p:sp>
    </p:spTree>
    <p:extLst>
      <p:ext uri="{BB962C8B-B14F-4D97-AF65-F5344CB8AC3E}">
        <p14:creationId xmlns:p14="http://schemas.microsoft.com/office/powerpoint/2010/main" val="1987684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2026-08-24T09:54:29.4590000Z</dcterms:created>
  <dcterms:modified xsi:type="dcterms:W3CDTF">2026-08-24T09:54:29.4590000Z</dcterms:modified>
</coreProperties>
</file>